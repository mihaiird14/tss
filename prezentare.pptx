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Stil tematic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Stil tematic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Stil tematic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ED083AE6-46FA-4A59-8FB0-9F97EB10719F}" styleName="Stil luminos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C22544A-7EE6-4342-B048-85BDC9FD1C3A}" styleName="Stil mediu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38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zitiv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o-RO"/>
              <a:t>Faceți clic pentru a edita stilul de subtitlu coordonator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081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56109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ntet secțiu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236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26602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172523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705379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o-R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565485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239482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o-RO"/>
              <a:t>Faceți clic pe pictogramă pentru a adăuga o imagine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o-RO"/>
              <a:t>Faceţi clic pentru a edita Master stiluri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71068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32215776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2754821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o-RO"/>
              <a:t>Faceți clic pentru a edita stilul de titlu coordonator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o-RO"/>
              <a:t>Faceţi clic pentru a edita Master stiluri text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798BB3A-E812-4B23-8A36-67E0C2509995}" type="datetimeFigureOut">
              <a:rPr lang="ro-RO" smtClean="0"/>
              <a:t>21.04.2026</a:t>
            </a:fld>
            <a:endParaRPr lang="ro-R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o-R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02684CD-890C-4CD7-99BF-E8DF43BA82A1}" type="slidenum">
              <a:rPr lang="ro-RO" smtClean="0"/>
              <a:t>‹#›</a:t>
            </a:fld>
            <a:endParaRPr lang="ro-RO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330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E98BBAF-0AF9-D81F-6A40-C7C63A4BC2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o-RO" dirty="0"/>
              <a:t>Testare unitară în Java</a:t>
            </a:r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F055C765-125A-682F-C655-1A569A212E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1927750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3B6301B-C556-4837-0867-A8B7CFC9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Metoda</a:t>
            </a:r>
            <a:r>
              <a:rPr lang="en-US" dirty="0"/>
              <a:t> </a:t>
            </a:r>
            <a:r>
              <a:rPr lang="en-US" dirty="0" err="1"/>
              <a:t>Testat</a:t>
            </a:r>
            <a:r>
              <a:rPr lang="ro-RO" dirty="0"/>
              <a:t>ă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4CBE3EFA-6DB8-1BF0-7CC8-932D9FEEA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3510" y="1845734"/>
            <a:ext cx="6278880" cy="4398312"/>
          </a:xfrm>
          <a:ln>
            <a:solidFill>
              <a:schemeClr val="bg1"/>
            </a:solidFill>
          </a:ln>
        </p:spPr>
        <p:txBody>
          <a:bodyPr>
            <a:normAutofit fontScale="55000" lnSpcReduction="20000"/>
          </a:bodyPr>
          <a:lstStyle/>
          <a:p>
            <a:r>
              <a:rPr lang="ro-RO" dirty="0"/>
              <a:t>public </a:t>
            </a:r>
            <a:r>
              <a:rPr lang="ro-RO" dirty="0" err="1"/>
              <a:t>String</a:t>
            </a:r>
            <a:r>
              <a:rPr lang="ro-RO" dirty="0"/>
              <a:t> </a:t>
            </a:r>
            <a:r>
              <a:rPr lang="ro-RO" dirty="0" err="1"/>
              <a:t>addAvailability</a:t>
            </a:r>
            <a:r>
              <a:rPr lang="ro-RO" dirty="0"/>
              <a:t>(</a:t>
            </a:r>
            <a:r>
              <a:rPr lang="ro-RO" dirty="0" err="1"/>
              <a:t>DayOfWeek</a:t>
            </a:r>
            <a:r>
              <a:rPr lang="ro-RO" dirty="0"/>
              <a:t> </a:t>
            </a:r>
            <a:r>
              <a:rPr lang="ro-RO" dirty="0" err="1"/>
              <a:t>dayOfWeek</a:t>
            </a:r>
            <a:r>
              <a:rPr lang="ro-RO" dirty="0"/>
              <a:t>, </a:t>
            </a:r>
            <a:r>
              <a:rPr lang="ro-RO" dirty="0" err="1"/>
              <a:t>LocalTime</a:t>
            </a:r>
            <a:r>
              <a:rPr lang="ro-RO" dirty="0"/>
              <a:t> </a:t>
            </a:r>
            <a:r>
              <a:rPr lang="ro-RO" dirty="0" err="1"/>
              <a:t>startTime</a:t>
            </a:r>
            <a:r>
              <a:rPr lang="ro-RO" dirty="0"/>
              <a:t>, </a:t>
            </a:r>
            <a:r>
              <a:rPr lang="ro-RO" dirty="0" err="1"/>
              <a:t>LocalTime</a:t>
            </a:r>
            <a:r>
              <a:rPr lang="ro-RO" dirty="0"/>
              <a:t> </a:t>
            </a:r>
            <a:r>
              <a:rPr lang="ro-RO" dirty="0" err="1"/>
              <a:t>endTime</a:t>
            </a:r>
            <a:r>
              <a:rPr lang="ro-RO" dirty="0"/>
              <a:t>) {</a:t>
            </a:r>
            <a:br>
              <a:rPr lang="ro-RO" dirty="0"/>
            </a:br>
            <a:br>
              <a:rPr lang="ro-RO" dirty="0"/>
            </a:br>
            <a:r>
              <a:rPr lang="ro-RO" dirty="0">
                <a:solidFill>
                  <a:srgbClr val="FF0000"/>
                </a:solidFill>
              </a:rPr>
              <a:t>    // Condiție simplă (fără </a:t>
            </a:r>
            <a:r>
              <a:rPr lang="ro-RO" dirty="0" err="1">
                <a:solidFill>
                  <a:srgbClr val="FF0000"/>
                </a:solidFill>
              </a:rPr>
              <a:t>else</a:t>
            </a:r>
            <a:r>
              <a:rPr lang="ro-RO" dirty="0">
                <a:solidFill>
                  <a:srgbClr val="FF0000"/>
                </a:solidFill>
              </a:rPr>
              <a:t>)</a:t>
            </a:r>
            <a:br>
              <a:rPr lang="ro-RO" dirty="0">
                <a:solidFill>
                  <a:srgbClr val="FF0000"/>
                </a:solidFill>
              </a:rPr>
            </a:br>
            <a:r>
              <a:rPr lang="ro-RO" dirty="0"/>
              <a:t>    </a:t>
            </a:r>
            <a:r>
              <a:rPr lang="ro-RO" dirty="0" err="1"/>
              <a:t>if</a:t>
            </a:r>
            <a:r>
              <a:rPr lang="ro-RO" dirty="0"/>
              <a:t> (</a:t>
            </a:r>
            <a:r>
              <a:rPr lang="ro-RO" dirty="0" err="1"/>
              <a:t>dayOfWeek</a:t>
            </a:r>
            <a:r>
              <a:rPr lang="ro-RO" dirty="0"/>
              <a:t> == </a:t>
            </a:r>
            <a:r>
              <a:rPr lang="ro-RO" dirty="0" err="1"/>
              <a:t>null</a:t>
            </a:r>
            <a:r>
              <a:rPr lang="ro-RO" dirty="0"/>
              <a:t>) {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return</a:t>
            </a:r>
            <a:r>
              <a:rPr lang="ro-RO" dirty="0"/>
              <a:t> "Eroare: Ziua săptămânii este obligatorie.";</a:t>
            </a:r>
            <a:br>
              <a:rPr lang="ro-RO" dirty="0"/>
            </a:br>
            <a:r>
              <a:rPr lang="ro-RO" dirty="0"/>
              <a:t>    }</a:t>
            </a:r>
            <a:br>
              <a:rPr lang="ro-RO" dirty="0"/>
            </a:br>
            <a:br>
              <a:rPr lang="ro-RO" dirty="0"/>
            </a:br>
            <a:r>
              <a:rPr lang="ro-RO" dirty="0">
                <a:solidFill>
                  <a:srgbClr val="FF0000"/>
                </a:solidFill>
              </a:rPr>
              <a:t>    // Condiție compusă</a:t>
            </a:r>
            <a:br>
              <a:rPr lang="ro-RO" dirty="0">
                <a:solidFill>
                  <a:srgbClr val="FF0000"/>
                </a:solidFill>
              </a:rPr>
            </a:br>
            <a:r>
              <a:rPr lang="ro-RO" dirty="0"/>
              <a:t>    </a:t>
            </a:r>
            <a:r>
              <a:rPr lang="ro-RO" dirty="0" err="1"/>
              <a:t>if</a:t>
            </a:r>
            <a:r>
              <a:rPr lang="ro-RO" dirty="0"/>
              <a:t> (</a:t>
            </a:r>
            <a:r>
              <a:rPr lang="ro-RO" dirty="0" err="1"/>
              <a:t>startTime</a:t>
            </a:r>
            <a:r>
              <a:rPr lang="ro-RO" dirty="0"/>
              <a:t> == </a:t>
            </a:r>
            <a:r>
              <a:rPr lang="ro-RO" dirty="0" err="1"/>
              <a:t>null</a:t>
            </a:r>
            <a:r>
              <a:rPr lang="ro-RO" dirty="0"/>
              <a:t> || </a:t>
            </a:r>
            <a:r>
              <a:rPr lang="ro-RO" dirty="0" err="1"/>
              <a:t>endTime</a:t>
            </a:r>
            <a:r>
              <a:rPr lang="ro-RO" dirty="0"/>
              <a:t> == </a:t>
            </a:r>
            <a:r>
              <a:rPr lang="ro-RO" dirty="0" err="1"/>
              <a:t>null</a:t>
            </a:r>
            <a:r>
              <a:rPr lang="ro-RO" dirty="0"/>
              <a:t> || !</a:t>
            </a:r>
            <a:r>
              <a:rPr lang="ro-RO" dirty="0" err="1"/>
              <a:t>startTime.isBefore</a:t>
            </a:r>
            <a:r>
              <a:rPr lang="ro-RO" dirty="0"/>
              <a:t>(</a:t>
            </a:r>
            <a:r>
              <a:rPr lang="ro-RO" dirty="0" err="1"/>
              <a:t>endTime</a:t>
            </a:r>
            <a:r>
              <a:rPr lang="ro-RO" dirty="0"/>
              <a:t>)) {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return</a:t>
            </a:r>
            <a:r>
              <a:rPr lang="ro-RO" dirty="0"/>
              <a:t> "Eroare: Ora de început trebuie să fie strict mai mică decât ora de sfârșit.";</a:t>
            </a:r>
            <a:br>
              <a:rPr lang="ro-RO" dirty="0"/>
            </a:br>
            <a:r>
              <a:rPr lang="ro-RO" dirty="0"/>
              <a:t>    }</a:t>
            </a:r>
            <a:br>
              <a:rPr lang="ro-RO" dirty="0"/>
            </a:br>
            <a:br>
              <a:rPr lang="ro-RO" dirty="0"/>
            </a:br>
            <a:r>
              <a:rPr lang="ro-RO" dirty="0"/>
              <a:t>    boolean </a:t>
            </a:r>
            <a:r>
              <a:rPr lang="ro-RO" dirty="0" err="1"/>
              <a:t>conflictFound</a:t>
            </a:r>
            <a:r>
              <a:rPr lang="ro-RO" dirty="0"/>
              <a:t> = false;</a:t>
            </a:r>
            <a:br>
              <a:rPr lang="ro-RO" dirty="0"/>
            </a:br>
            <a:br>
              <a:rPr lang="ro-RO" dirty="0">
                <a:solidFill>
                  <a:srgbClr val="FF0000"/>
                </a:solidFill>
              </a:rPr>
            </a:br>
            <a:r>
              <a:rPr lang="ro-RO" dirty="0">
                <a:solidFill>
                  <a:srgbClr val="FF0000"/>
                </a:solidFill>
              </a:rPr>
              <a:t>    // Instrucțiune repetitivă</a:t>
            </a:r>
            <a:br>
              <a:rPr lang="ro-RO" dirty="0"/>
            </a:br>
            <a:r>
              <a:rPr lang="ro-RO" dirty="0"/>
              <a:t>    for (</a:t>
            </a:r>
            <a:r>
              <a:rPr lang="ro-RO" dirty="0" err="1"/>
              <a:t>Availability</a:t>
            </a:r>
            <a:r>
              <a:rPr lang="ro-RO" dirty="0"/>
              <a:t> t : </a:t>
            </a:r>
            <a:r>
              <a:rPr lang="ro-RO" dirty="0" err="1"/>
              <a:t>trainerAvailabilities</a:t>
            </a:r>
            <a:r>
              <a:rPr lang="ro-RO" dirty="0"/>
              <a:t>) {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if</a:t>
            </a:r>
            <a:r>
              <a:rPr lang="ro-RO" dirty="0"/>
              <a:t> (</a:t>
            </a:r>
            <a:r>
              <a:rPr lang="ro-RO" dirty="0" err="1"/>
              <a:t>t.getDayOfWeek</a:t>
            </a:r>
            <a:r>
              <a:rPr lang="ro-RO" dirty="0"/>
              <a:t>().</a:t>
            </a:r>
            <a:r>
              <a:rPr lang="ro-RO" dirty="0" err="1"/>
              <a:t>equals</a:t>
            </a:r>
            <a:r>
              <a:rPr lang="ro-RO" dirty="0"/>
              <a:t>(</a:t>
            </a:r>
            <a:r>
              <a:rPr lang="ro-RO" dirty="0" err="1"/>
              <a:t>dayOfWeek</a:t>
            </a:r>
            <a:r>
              <a:rPr lang="ro-RO" dirty="0"/>
              <a:t>)) {</a:t>
            </a:r>
            <a:br>
              <a:rPr lang="ro-RO" dirty="0"/>
            </a:br>
            <a:r>
              <a:rPr lang="ro-RO" dirty="0"/>
              <a:t>            </a:t>
            </a:r>
            <a:r>
              <a:rPr lang="ro-RO" dirty="0" err="1"/>
              <a:t>if</a:t>
            </a:r>
            <a:r>
              <a:rPr lang="ro-RO" dirty="0"/>
              <a:t> ((</a:t>
            </a:r>
            <a:r>
              <a:rPr lang="ro-RO" dirty="0" err="1"/>
              <a:t>startTime.isBefore</a:t>
            </a:r>
            <a:r>
              <a:rPr lang="ro-RO" dirty="0"/>
              <a:t>(</a:t>
            </a:r>
            <a:r>
              <a:rPr lang="ro-RO" dirty="0" err="1"/>
              <a:t>t.getEndTime</a:t>
            </a:r>
            <a:r>
              <a:rPr lang="ro-RO" dirty="0"/>
              <a:t>()) &amp;&amp; </a:t>
            </a:r>
            <a:r>
              <a:rPr lang="ro-RO" dirty="0" err="1"/>
              <a:t>startTime.isAfter</a:t>
            </a:r>
            <a:r>
              <a:rPr lang="ro-RO" dirty="0"/>
              <a:t>(</a:t>
            </a:r>
            <a:r>
              <a:rPr lang="ro-RO" dirty="0" err="1"/>
              <a:t>t.getStartTime</a:t>
            </a:r>
            <a:r>
              <a:rPr lang="ro-RO" dirty="0"/>
              <a:t>())) ||</a:t>
            </a:r>
            <a:br>
              <a:rPr lang="ro-RO" dirty="0"/>
            </a:br>
            <a:r>
              <a:rPr lang="ro-RO" dirty="0"/>
              <a:t>                    (</a:t>
            </a:r>
            <a:r>
              <a:rPr lang="ro-RO" dirty="0" err="1"/>
              <a:t>endTime.isAfter</a:t>
            </a:r>
            <a:r>
              <a:rPr lang="ro-RO" dirty="0"/>
              <a:t>(</a:t>
            </a:r>
            <a:r>
              <a:rPr lang="ro-RO" dirty="0" err="1"/>
              <a:t>t.getStartTime</a:t>
            </a:r>
            <a:r>
              <a:rPr lang="ro-RO" dirty="0"/>
              <a:t>()) &amp;&amp; </a:t>
            </a:r>
            <a:r>
              <a:rPr lang="ro-RO" dirty="0" err="1"/>
              <a:t>endTime.isBefore</a:t>
            </a:r>
            <a:r>
              <a:rPr lang="ro-RO" dirty="0"/>
              <a:t>(</a:t>
            </a:r>
            <a:r>
              <a:rPr lang="ro-RO" dirty="0" err="1"/>
              <a:t>t.getEndTime</a:t>
            </a:r>
            <a:r>
              <a:rPr lang="ro-RO" dirty="0"/>
              <a:t>())) ||</a:t>
            </a:r>
            <a:br>
              <a:rPr lang="ro-RO" dirty="0"/>
            </a:br>
            <a:r>
              <a:rPr lang="ro-RO" dirty="0"/>
              <a:t>                    (</a:t>
            </a:r>
            <a:r>
              <a:rPr lang="ro-RO" dirty="0" err="1"/>
              <a:t>startTime.equals</a:t>
            </a:r>
            <a:r>
              <a:rPr lang="ro-RO" dirty="0"/>
              <a:t>(</a:t>
            </a:r>
            <a:r>
              <a:rPr lang="ro-RO" dirty="0" err="1"/>
              <a:t>t.getStartTime</a:t>
            </a:r>
            <a:r>
              <a:rPr lang="ro-RO" dirty="0"/>
              <a:t>()))) {</a:t>
            </a:r>
            <a:br>
              <a:rPr lang="ro-RO" dirty="0"/>
            </a:br>
            <a:br>
              <a:rPr lang="ro-RO" dirty="0"/>
            </a:br>
            <a:r>
              <a:rPr lang="ro-RO" dirty="0"/>
              <a:t>                </a:t>
            </a:r>
            <a:r>
              <a:rPr lang="ro-RO" dirty="0" err="1"/>
              <a:t>conflictFound</a:t>
            </a:r>
            <a:r>
              <a:rPr lang="ro-RO" dirty="0"/>
              <a:t> = </a:t>
            </a:r>
            <a:r>
              <a:rPr lang="ro-RO" dirty="0" err="1"/>
              <a:t>true</a:t>
            </a:r>
            <a:r>
              <a:rPr lang="ro-RO" dirty="0"/>
              <a:t>;</a:t>
            </a:r>
            <a:br>
              <a:rPr lang="ro-RO" dirty="0"/>
            </a:br>
            <a:r>
              <a:rPr lang="ro-RO" dirty="0"/>
              <a:t>                break;</a:t>
            </a:r>
            <a:br>
              <a:rPr lang="ro-RO" dirty="0"/>
            </a:br>
            <a:r>
              <a:rPr lang="ro-RO" dirty="0"/>
              <a:t>            }</a:t>
            </a:r>
            <a:br>
              <a:rPr lang="ro-RO" dirty="0"/>
            </a:br>
            <a:r>
              <a:rPr lang="ro-RO" dirty="0"/>
              <a:t>        }</a:t>
            </a:r>
            <a:br>
              <a:rPr lang="ro-RO" dirty="0"/>
            </a:br>
            <a:r>
              <a:rPr lang="ro-RO" dirty="0"/>
              <a:t>    }</a:t>
            </a:r>
            <a:br>
              <a:rPr lang="ro-RO" dirty="0"/>
            </a:br>
            <a:br>
              <a:rPr lang="ro-RO" dirty="0"/>
            </a:br>
            <a:r>
              <a:rPr lang="ro-RO" dirty="0">
                <a:solidFill>
                  <a:srgbClr val="FF0000"/>
                </a:solidFill>
              </a:rPr>
              <a:t>    // Condițională cu ELSE</a:t>
            </a:r>
            <a:br>
              <a:rPr lang="ro-RO" dirty="0"/>
            </a:br>
            <a:r>
              <a:rPr lang="ro-RO" dirty="0"/>
              <a:t>    </a:t>
            </a:r>
            <a:r>
              <a:rPr lang="ro-RO" dirty="0" err="1"/>
              <a:t>if</a:t>
            </a:r>
            <a:r>
              <a:rPr lang="ro-RO" dirty="0"/>
              <a:t> (</a:t>
            </a:r>
            <a:r>
              <a:rPr lang="ro-RO" dirty="0" err="1"/>
              <a:t>conflictFound</a:t>
            </a:r>
            <a:r>
              <a:rPr lang="ro-RO" dirty="0"/>
              <a:t>) {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return</a:t>
            </a:r>
            <a:r>
              <a:rPr lang="ro-RO" dirty="0"/>
              <a:t> "Conflict: Există deja un interval setat în această perioadă.";</a:t>
            </a:r>
            <a:br>
              <a:rPr lang="ro-RO" dirty="0"/>
            </a:br>
            <a:r>
              <a:rPr lang="ro-RO" dirty="0"/>
              <a:t>    } </a:t>
            </a:r>
            <a:r>
              <a:rPr lang="ro-RO" dirty="0" err="1"/>
              <a:t>else</a:t>
            </a:r>
            <a:r>
              <a:rPr lang="ro-RO" dirty="0"/>
              <a:t> {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Availability</a:t>
            </a:r>
            <a:r>
              <a:rPr lang="ro-RO" dirty="0"/>
              <a:t> </a:t>
            </a:r>
            <a:r>
              <a:rPr lang="ro-RO" dirty="0" err="1"/>
              <a:t>newAvailability</a:t>
            </a:r>
            <a:r>
              <a:rPr lang="ro-RO" dirty="0"/>
              <a:t> = </a:t>
            </a:r>
            <a:r>
              <a:rPr lang="ro-RO" dirty="0" err="1"/>
              <a:t>new</a:t>
            </a:r>
            <a:r>
              <a:rPr lang="ro-RO" dirty="0"/>
              <a:t> </a:t>
            </a:r>
            <a:r>
              <a:rPr lang="ro-RO" dirty="0" err="1"/>
              <a:t>Availability</a:t>
            </a:r>
            <a:r>
              <a:rPr lang="ro-RO" dirty="0"/>
              <a:t>(</a:t>
            </a:r>
            <a:r>
              <a:rPr lang="ro-RO" dirty="0" err="1"/>
              <a:t>dayOfWeek</a:t>
            </a:r>
            <a:r>
              <a:rPr lang="ro-RO" dirty="0"/>
              <a:t>, </a:t>
            </a:r>
            <a:r>
              <a:rPr lang="ro-RO" dirty="0" err="1"/>
              <a:t>startTime</a:t>
            </a:r>
            <a:r>
              <a:rPr lang="ro-RO" dirty="0"/>
              <a:t>, </a:t>
            </a:r>
            <a:r>
              <a:rPr lang="ro-RO" dirty="0" err="1"/>
              <a:t>endTime</a:t>
            </a:r>
            <a:r>
              <a:rPr lang="ro-RO" dirty="0"/>
              <a:t>);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trainerAvailabilities.add</a:t>
            </a:r>
            <a:r>
              <a:rPr lang="ro-RO" dirty="0"/>
              <a:t>(</a:t>
            </a:r>
            <a:r>
              <a:rPr lang="ro-RO" dirty="0" err="1"/>
              <a:t>newAvailability</a:t>
            </a:r>
            <a:r>
              <a:rPr lang="ro-RO" dirty="0"/>
              <a:t>);</a:t>
            </a:r>
            <a:br>
              <a:rPr lang="ro-RO" dirty="0"/>
            </a:br>
            <a:r>
              <a:rPr lang="ro-RO" dirty="0"/>
              <a:t>        </a:t>
            </a:r>
            <a:r>
              <a:rPr lang="ro-RO" dirty="0" err="1"/>
              <a:t>return</a:t>
            </a:r>
            <a:r>
              <a:rPr lang="ro-RO" dirty="0"/>
              <a:t> "Succes: Intervalul a fost adăugat.";</a:t>
            </a:r>
            <a:br>
              <a:rPr lang="ro-RO" dirty="0"/>
            </a:br>
            <a:r>
              <a:rPr lang="ro-RO" dirty="0"/>
              <a:t>    }</a:t>
            </a:r>
            <a:br>
              <a:rPr lang="ro-RO" dirty="0"/>
            </a:br>
            <a:r>
              <a:rPr lang="ro-RO" dirty="0"/>
              <a:t>}</a:t>
            </a:r>
          </a:p>
          <a:p>
            <a:endParaRPr lang="ro-RO" dirty="0"/>
          </a:p>
        </p:txBody>
      </p:sp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CF5A9B06-5CA8-0B51-7025-89CD1DF4C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643364"/>
              </p:ext>
            </p:extLst>
          </p:nvPr>
        </p:nvGraphicFramePr>
        <p:xfrm>
          <a:off x="6305320" y="2719010"/>
          <a:ext cx="5512210" cy="265176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756105">
                  <a:extLst>
                    <a:ext uri="{9D8B030D-6E8A-4147-A177-3AD203B41FA5}">
                      <a16:colId xmlns:a16="http://schemas.microsoft.com/office/drawing/2014/main" val="2093014086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1225401970"/>
                    </a:ext>
                  </a:extLst>
                </a:gridCol>
              </a:tblGrid>
              <a:tr h="1802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Condiție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Rezultat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456158"/>
                  </a:ext>
                </a:extLst>
              </a:tr>
              <a:tr h="1802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dayOfWeek == null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Eroare: ziua lipsă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9477659"/>
                  </a:ext>
                </a:extLst>
              </a:tr>
              <a:tr h="1802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startTime/endTime null sau S ≥ 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Eroare: interval invalid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6897393"/>
                  </a:ext>
                </a:extLst>
              </a:tr>
              <a:tr h="1802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Suprapunere cu interval existent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Conflict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763876"/>
                  </a:ext>
                </a:extLst>
              </a:tr>
              <a:tr h="18021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Parametri valizi, fără conflict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Succes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3470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3867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5DD41C9-FE47-4EDF-4270-5842BD085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Testare funcțională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2142806B-3CEB-875C-F7DE-262011DC41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o-RO" b="1" dirty="0"/>
              <a:t>Bloc 1 – Partiționare de echivalență</a:t>
            </a:r>
            <a:endParaRPr lang="ro-RO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3 parametri: D (ziua), T (intervalul), C (conflictul)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18 clase globale D × T × C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Cazuri speciale: </a:t>
            </a:r>
            <a:r>
              <a:rPr lang="ro-RO" dirty="0" err="1"/>
              <a:t>enum</a:t>
            </a:r>
            <a:r>
              <a:rPr lang="ro-RO" dirty="0"/>
              <a:t> invalid simulat cu </a:t>
            </a:r>
            <a:r>
              <a:rPr lang="ro-RO" dirty="0" err="1"/>
              <a:t>assertThrows</a:t>
            </a:r>
            <a:endParaRPr lang="ro-RO" dirty="0"/>
          </a:p>
          <a:p>
            <a:r>
              <a:rPr lang="ro-RO" b="1" dirty="0"/>
              <a:t>Bloc 2 – Valori de frontieră</a:t>
            </a:r>
            <a:endParaRPr lang="ro-RO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Interval de referință: [10:00 – 11:00]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6 teste: S=E, S=E−1min, adiacent start, adiacent </a:t>
            </a:r>
            <a:r>
              <a:rPr lang="ro-RO" dirty="0" err="1"/>
              <a:t>end</a:t>
            </a:r>
            <a:r>
              <a:rPr lang="ro-RO" dirty="0"/>
              <a:t>, suprapunere 1min start, suprapunere 1min </a:t>
            </a:r>
            <a:r>
              <a:rPr lang="ro-RO" dirty="0" err="1"/>
              <a:t>end</a:t>
            </a:r>
            <a:endParaRPr lang="ro-RO" dirty="0"/>
          </a:p>
          <a:p>
            <a:r>
              <a:rPr lang="ro-RO" b="1" dirty="0"/>
              <a:t>Bloc 3 – </a:t>
            </a:r>
            <a:r>
              <a:rPr lang="ro-RO" b="1" dirty="0" err="1"/>
              <a:t>Category</a:t>
            </a:r>
            <a:r>
              <a:rPr lang="ro-RO" b="1" dirty="0"/>
              <a:t> </a:t>
            </a:r>
            <a:r>
              <a:rPr lang="ro-RO" b="1" dirty="0" err="1"/>
              <a:t>Partitioning</a:t>
            </a:r>
            <a:endParaRPr lang="ro-RO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4 categorii: D, T, L (mediu), plus combinații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o-RO" dirty="0"/>
              <a:t>8 cazuri: D2, D3, D1T2, D1T3, D1T4, D1T1L1, D1T1L2, D1T1L3</a:t>
            </a: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726225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751C51A-CC81-C747-3DC3-136357EC5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37" y="411725"/>
            <a:ext cx="5460274" cy="1450757"/>
          </a:xfrm>
        </p:spPr>
        <p:txBody>
          <a:bodyPr>
            <a:normAutofit fontScale="90000"/>
          </a:bodyPr>
          <a:lstStyle/>
          <a:p>
            <a:r>
              <a:rPr lang="ro-RO" dirty="0"/>
              <a:t>Testare Structurală- Graf de flux de control </a:t>
            </a:r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FC8E7892-63E5-4943-A887-B17B24E1E5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1761" y="283315"/>
            <a:ext cx="5460274" cy="5938714"/>
          </a:xfrm>
          <a:prstGeom prst="rect">
            <a:avLst/>
          </a:prstGeom>
        </p:spPr>
      </p:pic>
      <p:sp>
        <p:nvSpPr>
          <p:cNvPr id="7" name="CasetăText 6">
            <a:extLst>
              <a:ext uri="{FF2B5EF4-FFF2-40B4-BE49-F238E27FC236}">
                <a16:creationId xmlns:a16="http://schemas.microsoft.com/office/drawing/2014/main" id="{890A25D1-1755-6FA9-8944-0E9D4D408D3E}"/>
              </a:ext>
            </a:extLst>
          </p:cNvPr>
          <p:cNvSpPr txBox="1"/>
          <p:nvPr/>
        </p:nvSpPr>
        <p:spPr>
          <a:xfrm>
            <a:off x="444137" y="2088271"/>
            <a:ext cx="11059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dirty="0"/>
              <a:t>Noduri </a:t>
            </a:r>
          </a:p>
        </p:txBody>
      </p:sp>
      <p:graphicFrame>
        <p:nvGraphicFramePr>
          <p:cNvPr id="8" name="Tabel 7">
            <a:extLst>
              <a:ext uri="{FF2B5EF4-FFF2-40B4-BE49-F238E27FC236}">
                <a16:creationId xmlns:a16="http://schemas.microsoft.com/office/drawing/2014/main" id="{ECED52E7-26C1-5AF7-6336-9E5AFE831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604061"/>
              </p:ext>
            </p:extLst>
          </p:nvPr>
        </p:nvGraphicFramePr>
        <p:xfrm>
          <a:off x="269965" y="2683392"/>
          <a:ext cx="6017624" cy="2560320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3008812">
                  <a:extLst>
                    <a:ext uri="{9D8B030D-6E8A-4147-A177-3AD203B41FA5}">
                      <a16:colId xmlns:a16="http://schemas.microsoft.com/office/drawing/2014/main" val="3573911750"/>
                    </a:ext>
                  </a:extLst>
                </a:gridCol>
                <a:gridCol w="3008812">
                  <a:extLst>
                    <a:ext uri="{9D8B030D-6E8A-4147-A177-3AD203B41FA5}">
                      <a16:colId xmlns:a16="http://schemas.microsoft.com/office/drawing/2014/main" val="4027899203"/>
                    </a:ext>
                  </a:extLst>
                </a:gridCol>
              </a:tblGrid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Nod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Rol</a:t>
                      </a:r>
                    </a:p>
                  </a:txBody>
                  <a:tcPr anchor="ctr"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062087"/>
                  </a:ext>
                </a:extLst>
              </a:tr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N1, 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Decizii validare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2246046"/>
                  </a:ext>
                </a:extLst>
              </a:tr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N2, N4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Return erori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9569990"/>
                  </a:ext>
                </a:extLst>
              </a:tr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N5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Buclă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039890"/>
                  </a:ext>
                </a:extLst>
              </a:tr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N6, N7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Decizii conflict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8227069"/>
                  </a:ext>
                </a:extLst>
              </a:tr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N8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if conflictGasit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764835"/>
                  </a:ext>
                </a:extLst>
              </a:tr>
              <a:tr h="32466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N9, N10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 err="1">
                          <a:effectLst/>
                        </a:rPr>
                        <a:t>Return</a:t>
                      </a:r>
                      <a:r>
                        <a:rPr lang="ro-RO" dirty="0">
                          <a:effectLst/>
                        </a:rPr>
                        <a:t> conflict / succes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89080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801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3B6E1A90-9465-5C76-F35F-CC0D43A07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Testare Structurală</a:t>
            </a:r>
          </a:p>
        </p:txBody>
      </p:sp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4437A12E-D14E-B6EB-703E-E2801E4CF3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16006082"/>
              </p:ext>
            </p:extLst>
          </p:nvPr>
        </p:nvGraphicFramePr>
        <p:xfrm>
          <a:off x="870857" y="2194561"/>
          <a:ext cx="3417053" cy="2926080"/>
        </p:xfrm>
        <a:graphic>
          <a:graphicData uri="http://schemas.openxmlformats.org/drawingml/2006/table">
            <a:tbl>
              <a:tblPr>
                <a:tableStyleId>{35758FB7-9AC5-4552-8A53-C91805E547FA}</a:tableStyleId>
              </a:tblPr>
              <a:tblGrid>
                <a:gridCol w="1708368">
                  <a:extLst>
                    <a:ext uri="{9D8B030D-6E8A-4147-A177-3AD203B41FA5}">
                      <a16:colId xmlns:a16="http://schemas.microsoft.com/office/drawing/2014/main" val="2746636073"/>
                    </a:ext>
                  </a:extLst>
                </a:gridCol>
                <a:gridCol w="1708685">
                  <a:extLst>
                    <a:ext uri="{9D8B030D-6E8A-4147-A177-3AD203B41FA5}">
                      <a16:colId xmlns:a16="http://schemas.microsoft.com/office/drawing/2014/main" val="958849461"/>
                    </a:ext>
                  </a:extLst>
                </a:gridCol>
              </a:tblGrid>
              <a:tr h="23921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Tip acoperire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Nr. teste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942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 err="1">
                          <a:effectLst/>
                        </a:rPr>
                        <a:t>Statement</a:t>
                      </a:r>
                      <a:r>
                        <a:rPr lang="ro-RO" dirty="0">
                          <a:effectLst/>
                        </a:rPr>
                        <a:t> </a:t>
                      </a:r>
                      <a:r>
                        <a:rPr lang="ro-RO" dirty="0" err="1">
                          <a:effectLst/>
                        </a:rPr>
                        <a:t>Coverage</a:t>
                      </a:r>
                      <a:endParaRPr lang="ro-RO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6144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 err="1">
                          <a:effectLst/>
                        </a:rPr>
                        <a:t>Decision</a:t>
                      </a:r>
                      <a:r>
                        <a:rPr lang="ro-RO" dirty="0">
                          <a:effectLst/>
                        </a:rPr>
                        <a:t> </a:t>
                      </a:r>
                      <a:r>
                        <a:rPr lang="ro-RO" dirty="0" err="1">
                          <a:effectLst/>
                        </a:rPr>
                        <a:t>Coverage</a:t>
                      </a:r>
                      <a:endParaRPr lang="ro-RO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6361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Condition Coverage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>
                          <a:effectLst/>
                        </a:rPr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516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Basis Path V(G)=8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ro-RO" dirty="0">
                          <a:effectLst/>
                        </a:rPr>
                        <a:t>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1532826"/>
                  </a:ext>
                </a:extLst>
              </a:tr>
            </a:tbl>
          </a:graphicData>
        </a:graphic>
      </p:graphicFrame>
      <p:sp>
        <p:nvSpPr>
          <p:cNvPr id="9" name="CasetăText 8">
            <a:extLst>
              <a:ext uri="{FF2B5EF4-FFF2-40B4-BE49-F238E27FC236}">
                <a16:creationId xmlns:a16="http://schemas.microsoft.com/office/drawing/2014/main" id="{BF6EE331-EBCD-20CB-E057-827D6564E06C}"/>
              </a:ext>
            </a:extLst>
          </p:cNvPr>
          <p:cNvSpPr txBox="1"/>
          <p:nvPr/>
        </p:nvSpPr>
        <p:spPr>
          <a:xfrm>
            <a:off x="5152184" y="2405967"/>
            <a:ext cx="550381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o-RO" b="1" dirty="0" err="1"/>
              <a:t>Statement</a:t>
            </a:r>
            <a:r>
              <a:rPr lang="ro-RO" dirty="0"/>
              <a:t>: execută fiecare instrucțiune cel puțin o dată </a:t>
            </a:r>
            <a:r>
              <a:rPr lang="ro-RO" b="1" dirty="0" err="1"/>
              <a:t>Decision</a:t>
            </a:r>
            <a:r>
              <a:rPr lang="ro-RO" dirty="0"/>
              <a:t>: fiecare ramură T/F acoperită </a:t>
            </a:r>
          </a:p>
          <a:p>
            <a:r>
              <a:rPr lang="ro-RO" b="1" dirty="0" err="1"/>
              <a:t>Condition</a:t>
            </a:r>
            <a:r>
              <a:rPr lang="ro-RO" dirty="0"/>
              <a:t>: fiecare sub-condiție din D2 și D5 luată separat (C1–C10)</a:t>
            </a:r>
          </a:p>
          <a:p>
            <a:r>
              <a:rPr lang="ro-RO" b="1" dirty="0" err="1"/>
              <a:t>Basis</a:t>
            </a:r>
            <a:r>
              <a:rPr lang="ro-RO" dirty="0"/>
              <a:t> </a:t>
            </a:r>
            <a:r>
              <a:rPr lang="ro-RO" b="1" dirty="0" err="1"/>
              <a:t>Path</a:t>
            </a:r>
            <a:r>
              <a:rPr lang="ro-RO" dirty="0"/>
              <a:t>: 8 circuite independente</a:t>
            </a:r>
          </a:p>
        </p:txBody>
      </p:sp>
    </p:spTree>
    <p:extLst>
      <p:ext uri="{BB962C8B-B14F-4D97-AF65-F5344CB8AC3E}">
        <p14:creationId xmlns:p14="http://schemas.microsoft.com/office/powerpoint/2010/main" val="2500492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A215E1DE-ED51-0FCE-3710-A93F742F5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Rezultate </a:t>
            </a:r>
            <a:r>
              <a:rPr lang="ro-RO" dirty="0" err="1"/>
              <a:t>Coverage</a:t>
            </a:r>
            <a:endParaRPr lang="ro-RO" dirty="0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61A6FDC9-10B3-AE51-FBF1-550F196D25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6800" y="1810619"/>
            <a:ext cx="10058400" cy="1150515"/>
          </a:xfrm>
          <a:prstGeom prst="rect">
            <a:avLst/>
          </a:prstGeom>
        </p:spPr>
      </p:pic>
      <p:pic>
        <p:nvPicPr>
          <p:cNvPr id="7" name="Imagine 6">
            <a:extLst>
              <a:ext uri="{FF2B5EF4-FFF2-40B4-BE49-F238E27FC236}">
                <a16:creationId xmlns:a16="http://schemas.microsoft.com/office/drawing/2014/main" id="{6F38CB54-A0C8-88B0-5547-0BEFF8AB7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259808"/>
            <a:ext cx="8526065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946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BBC0E38-7709-31AD-C3AE-B737719F6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Analiză mutanți – Funcție inițială</a:t>
            </a:r>
            <a:br>
              <a:rPr lang="ro-RO" dirty="0"/>
            </a:br>
            <a:endParaRPr lang="ro-RO" dirty="0"/>
          </a:p>
        </p:txBody>
      </p:sp>
      <p:sp>
        <p:nvSpPr>
          <p:cNvPr id="11" name="Substituent conținut 10">
            <a:extLst>
              <a:ext uri="{FF2B5EF4-FFF2-40B4-BE49-F238E27FC236}">
                <a16:creationId xmlns:a16="http://schemas.microsoft.com/office/drawing/2014/main" id="{703A035C-10D6-F667-7044-1A0000D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o-RO" dirty="0"/>
          </a:p>
          <a:p>
            <a:r>
              <a:rPr lang="en-US" dirty="0"/>
              <a:t>@Test</a:t>
            </a:r>
          </a:p>
          <a:p>
            <a:r>
              <a:rPr lang="en-US" dirty="0"/>
              <a:t>public void </a:t>
            </a:r>
            <a:r>
              <a:rPr lang="ro-RO" dirty="0"/>
              <a:t>test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app.addAvailability</a:t>
            </a:r>
            <a:r>
              <a:rPr lang="en-US" dirty="0"/>
              <a:t>(FRIDAY, 10:00, 12:00);</a:t>
            </a:r>
          </a:p>
          <a:p>
            <a:r>
              <a:rPr lang="en-US" dirty="0"/>
              <a:t>    String result = </a:t>
            </a:r>
            <a:r>
              <a:rPr lang="en-US" dirty="0" err="1"/>
              <a:t>app.addAvailability</a:t>
            </a:r>
            <a:r>
              <a:rPr lang="en-US" dirty="0"/>
              <a:t>(FRIDAY, 9:00, 11:59);</a:t>
            </a:r>
          </a:p>
          <a:p>
            <a:r>
              <a:rPr lang="en-US" dirty="0"/>
              <a:t>    </a:t>
            </a:r>
            <a:r>
              <a:rPr lang="en-US" dirty="0" err="1"/>
              <a:t>assertEquals</a:t>
            </a:r>
            <a:r>
              <a:rPr lang="en-US" dirty="0"/>
              <a:t>("Conflict...", result);</a:t>
            </a:r>
          </a:p>
          <a:p>
            <a:r>
              <a:rPr lang="en-US" dirty="0"/>
              <a:t>}</a:t>
            </a:r>
            <a:endParaRPr lang="ro-RO" dirty="0"/>
          </a:p>
          <a:p>
            <a:pPr algn="ctr"/>
            <a:endParaRPr lang="ro-RO" dirty="0"/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2437046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FEF9506-4C85-2247-E3FA-50E69BB8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o-RO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2F8FB380-97AC-AEE8-5832-5FC38012FB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9203"/>
            <a:ext cx="10058400" cy="3687368"/>
          </a:xfrm>
          <a:prstGeom prst="rect">
            <a:avLst/>
          </a:prstGeom>
        </p:spPr>
      </p:pic>
      <p:pic>
        <p:nvPicPr>
          <p:cNvPr id="10" name="Imagine 9">
            <a:extLst>
              <a:ext uri="{FF2B5EF4-FFF2-40B4-BE49-F238E27FC236}">
                <a16:creationId xmlns:a16="http://schemas.microsoft.com/office/drawing/2014/main" id="{9BDB9997-9DA4-6441-9D83-053430D43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503" y="3825316"/>
            <a:ext cx="7073084" cy="2933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03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CC69D0E-07F6-92D4-DA03-51E0420B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Analiză mutanți – Funcție reparată</a:t>
            </a:r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9FC526EA-579E-AEE5-87FA-95EA323BA7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20389"/>
            <a:ext cx="9248503" cy="3910148"/>
          </a:xfrm>
        </p:spPr>
        <p:txBody>
          <a:bodyPr>
            <a:normAutofit fontScale="85000" lnSpcReduction="20000"/>
          </a:bodyPr>
          <a:lstStyle/>
          <a:p>
            <a:r>
              <a:rPr lang="ro-RO" dirty="0"/>
              <a:t>@Test</a:t>
            </a:r>
            <a:br>
              <a:rPr lang="ro-RO" dirty="0"/>
            </a:br>
            <a:r>
              <a:rPr lang="ro-RO" dirty="0"/>
              <a:t>public </a:t>
            </a:r>
            <a:r>
              <a:rPr lang="ro-RO" dirty="0" err="1"/>
              <a:t>void</a:t>
            </a:r>
            <a:r>
              <a:rPr lang="ro-RO" dirty="0"/>
              <a:t> testMutant2_Reparat_KillIsBeforeEndTime() {</a:t>
            </a:r>
            <a:br>
              <a:rPr lang="ro-RO" dirty="0"/>
            </a:br>
            <a:r>
              <a:rPr lang="ro-RO" dirty="0">
                <a:solidFill>
                  <a:srgbClr val="FF0000"/>
                </a:solidFill>
              </a:rPr>
              <a:t>    // Omoară linia 16: </a:t>
            </a:r>
            <a:r>
              <a:rPr lang="ro-RO" dirty="0" err="1">
                <a:solidFill>
                  <a:srgbClr val="FF0000"/>
                </a:solidFill>
              </a:rPr>
              <a:t>return</a:t>
            </a:r>
            <a:r>
              <a:rPr lang="ro-RO" dirty="0">
                <a:solidFill>
                  <a:srgbClr val="FF0000"/>
                </a:solidFill>
              </a:rPr>
              <a:t> eroare </a:t>
            </a:r>
            <a:r>
              <a:rPr lang="ro-RO" dirty="0" err="1">
                <a:solidFill>
                  <a:srgbClr val="FF0000"/>
                </a:solidFill>
              </a:rPr>
              <a:t>dayOfWeek</a:t>
            </a:r>
            <a:br>
              <a:rPr lang="ro-RO" dirty="0"/>
            </a:br>
            <a:r>
              <a:rPr lang="ro-RO" dirty="0"/>
              <a:t>    </a:t>
            </a:r>
            <a:r>
              <a:rPr lang="ro-RO" dirty="0" err="1"/>
              <a:t>String</a:t>
            </a:r>
            <a:r>
              <a:rPr lang="ro-RO" dirty="0"/>
              <a:t> r0 = </a:t>
            </a:r>
            <a:r>
              <a:rPr lang="ro-RO" dirty="0" err="1"/>
              <a:t>app.addAvailability</a:t>
            </a:r>
            <a:r>
              <a:rPr lang="ro-RO" dirty="0"/>
              <a:t>(</a:t>
            </a:r>
            <a:r>
              <a:rPr lang="ro-RO" dirty="0" err="1"/>
              <a:t>null</a:t>
            </a:r>
            <a:r>
              <a:rPr lang="ro-RO" dirty="0"/>
              <a:t>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(10, 0),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(12, 0));</a:t>
            </a:r>
            <a:br>
              <a:rPr lang="ro-RO" dirty="0"/>
            </a:br>
            <a:r>
              <a:rPr lang="ro-RO" dirty="0"/>
              <a:t>    </a:t>
            </a:r>
            <a:r>
              <a:rPr lang="ro-RO" i="1" dirty="0" err="1"/>
              <a:t>assertEquals</a:t>
            </a:r>
            <a:r>
              <a:rPr lang="ro-RO" dirty="0"/>
              <a:t>("Eroare: Ziua săptămânii este obligatorie.", r0);</a:t>
            </a:r>
            <a:br>
              <a:rPr lang="ro-RO" dirty="0"/>
            </a:br>
            <a:br>
              <a:rPr lang="ro-RO" dirty="0"/>
            </a:br>
            <a:r>
              <a:rPr lang="ro-RO" dirty="0"/>
              <a:t>    </a:t>
            </a:r>
            <a:r>
              <a:rPr lang="ro-RO" dirty="0" err="1"/>
              <a:t>app.addAvailability</a:t>
            </a:r>
            <a:r>
              <a:rPr lang="ro-RO" dirty="0"/>
              <a:t>(</a:t>
            </a:r>
            <a:r>
              <a:rPr lang="ro-RO" dirty="0" err="1"/>
              <a:t>DayOfWeek.</a:t>
            </a:r>
            <a:r>
              <a:rPr lang="ro-RO" i="1" dirty="0" err="1"/>
              <a:t>FRIDAY</a:t>
            </a:r>
            <a:r>
              <a:rPr lang="ro-RO" dirty="0"/>
              <a:t>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(10, 0),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(12, 0));</a:t>
            </a:r>
            <a:br>
              <a:rPr lang="ro-RO" dirty="0"/>
            </a:br>
            <a:br>
              <a:rPr lang="ro-RO" dirty="0"/>
            </a:br>
            <a:r>
              <a:rPr lang="ro-RO" dirty="0"/>
              <a:t>    </a:t>
            </a:r>
            <a:r>
              <a:rPr lang="ro-RO" dirty="0">
                <a:solidFill>
                  <a:srgbClr val="FF0000"/>
                </a:solidFill>
              </a:rPr>
              <a:t>// Omoară linia 28: </a:t>
            </a:r>
            <a:r>
              <a:rPr lang="ro-RO" dirty="0" err="1">
                <a:solidFill>
                  <a:srgbClr val="FF0000"/>
                </a:solidFill>
              </a:rPr>
              <a:t>startTime</a:t>
            </a:r>
            <a:r>
              <a:rPr lang="ro-RO" dirty="0">
                <a:solidFill>
                  <a:srgbClr val="FF0000"/>
                </a:solidFill>
              </a:rPr>
              <a:t> strict după </a:t>
            </a:r>
            <a:r>
              <a:rPr lang="ro-RO" dirty="0" err="1">
                <a:solidFill>
                  <a:srgbClr val="FF0000"/>
                </a:solidFill>
              </a:rPr>
              <a:t>startTime</a:t>
            </a:r>
            <a:r>
              <a:rPr lang="ro-RO" dirty="0">
                <a:solidFill>
                  <a:srgbClr val="FF0000"/>
                </a:solidFill>
              </a:rPr>
              <a:t> existent</a:t>
            </a:r>
            <a:br>
              <a:rPr lang="ro-RO" dirty="0"/>
            </a:br>
            <a:r>
              <a:rPr lang="ro-RO" dirty="0"/>
              <a:t>    </a:t>
            </a:r>
            <a:r>
              <a:rPr lang="ro-RO" dirty="0" err="1"/>
              <a:t>String</a:t>
            </a:r>
            <a:r>
              <a:rPr lang="ro-RO" dirty="0"/>
              <a:t> r1 = </a:t>
            </a:r>
            <a:r>
              <a:rPr lang="ro-RO" dirty="0" err="1"/>
              <a:t>app.addAvailability</a:t>
            </a:r>
            <a:r>
              <a:rPr lang="ro-RO" dirty="0"/>
              <a:t>(</a:t>
            </a:r>
            <a:r>
              <a:rPr lang="ro-RO" dirty="0" err="1"/>
              <a:t>DayOfWeek.</a:t>
            </a:r>
            <a:r>
              <a:rPr lang="ro-RO" i="1" dirty="0" err="1"/>
              <a:t>FRIDAY</a:t>
            </a:r>
            <a:r>
              <a:rPr lang="ro-RO" dirty="0"/>
              <a:t>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(11, 0),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(13, 0));</a:t>
            </a:r>
            <a:br>
              <a:rPr lang="ro-RO" dirty="0"/>
            </a:br>
            <a:r>
              <a:rPr lang="ro-RO" dirty="0"/>
              <a:t>    </a:t>
            </a:r>
            <a:r>
              <a:rPr lang="ro-RO" i="1" dirty="0" err="1"/>
              <a:t>assertEquals</a:t>
            </a:r>
            <a:r>
              <a:rPr lang="ro-RO" dirty="0"/>
              <a:t>("Conflict: Există deja un interval setat în această perioadă.", r1);</a:t>
            </a:r>
            <a:br>
              <a:rPr lang="ro-RO" dirty="0"/>
            </a:br>
            <a:br>
              <a:rPr lang="ro-RO" dirty="0">
                <a:solidFill>
                  <a:srgbClr val="FF0000"/>
                </a:solidFill>
              </a:rPr>
            </a:br>
            <a:r>
              <a:rPr lang="ro-RO" dirty="0">
                <a:solidFill>
                  <a:srgbClr val="FF0000"/>
                </a:solidFill>
              </a:rPr>
              <a:t>    // Omoară linia 29: </a:t>
            </a:r>
            <a:r>
              <a:rPr lang="ro-RO" dirty="0" err="1">
                <a:solidFill>
                  <a:srgbClr val="FF0000"/>
                </a:solidFill>
              </a:rPr>
              <a:t>endTime</a:t>
            </a:r>
            <a:r>
              <a:rPr lang="ro-RO" dirty="0">
                <a:solidFill>
                  <a:srgbClr val="FF0000"/>
                </a:solidFill>
              </a:rPr>
              <a:t> strict înainte de </a:t>
            </a:r>
            <a:r>
              <a:rPr lang="ro-RO" dirty="0" err="1">
                <a:solidFill>
                  <a:srgbClr val="FF0000"/>
                </a:solidFill>
              </a:rPr>
              <a:t>endTime</a:t>
            </a:r>
            <a:r>
              <a:rPr lang="ro-RO" dirty="0">
                <a:solidFill>
                  <a:srgbClr val="FF0000"/>
                </a:solidFill>
              </a:rPr>
              <a:t> existent</a:t>
            </a:r>
            <a:br>
              <a:rPr lang="ro-RO" dirty="0"/>
            </a:br>
            <a:r>
              <a:rPr lang="ro-RO" dirty="0"/>
              <a:t>    </a:t>
            </a:r>
            <a:r>
              <a:rPr lang="ro-RO" dirty="0" err="1"/>
              <a:t>String</a:t>
            </a:r>
            <a:r>
              <a:rPr lang="ro-RO" dirty="0"/>
              <a:t> r2 = </a:t>
            </a:r>
            <a:r>
              <a:rPr lang="ro-RO" dirty="0" err="1"/>
              <a:t>app.addAvailability</a:t>
            </a:r>
            <a:r>
              <a:rPr lang="ro-RO" dirty="0"/>
              <a:t>(</a:t>
            </a:r>
            <a:r>
              <a:rPr lang="ro-RO" dirty="0" err="1"/>
              <a:t>DayOfWeek.</a:t>
            </a:r>
            <a:r>
              <a:rPr lang="ro-RO" i="1" dirty="0" err="1"/>
              <a:t>FRIDAY</a:t>
            </a:r>
            <a:r>
              <a:rPr lang="ro-RO" dirty="0"/>
              <a:t>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(9, 0),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(11, 0));</a:t>
            </a:r>
            <a:br>
              <a:rPr lang="ro-RO" dirty="0"/>
            </a:br>
            <a:r>
              <a:rPr lang="ro-RO" dirty="0"/>
              <a:t>    </a:t>
            </a:r>
            <a:r>
              <a:rPr lang="ro-RO" i="1" dirty="0" err="1"/>
              <a:t>assertEquals</a:t>
            </a:r>
            <a:r>
              <a:rPr lang="ro-RO" dirty="0"/>
              <a:t>("Conflict: Există deja un interval setat în această perioadă.", r2);</a:t>
            </a:r>
            <a:br>
              <a:rPr lang="ro-RO" dirty="0"/>
            </a:br>
            <a:br>
              <a:rPr lang="ro-RO" dirty="0"/>
            </a:br>
            <a:r>
              <a:rPr lang="ro-RO" dirty="0"/>
              <a:t>    </a:t>
            </a:r>
            <a:r>
              <a:rPr lang="ro-RO" dirty="0">
                <a:solidFill>
                  <a:srgbClr val="FF0000"/>
                </a:solidFill>
              </a:rPr>
              <a:t>// Omoară linia 40: </a:t>
            </a:r>
            <a:r>
              <a:rPr lang="ro-RO" dirty="0" err="1">
                <a:solidFill>
                  <a:srgbClr val="FF0000"/>
                </a:solidFill>
              </a:rPr>
              <a:t>conflictGasit</a:t>
            </a:r>
            <a:r>
              <a:rPr lang="ro-RO" dirty="0">
                <a:solidFill>
                  <a:srgbClr val="FF0000"/>
                </a:solidFill>
              </a:rPr>
              <a:t>=false → ramura succes</a:t>
            </a:r>
            <a:br>
              <a:rPr lang="ro-RO" dirty="0"/>
            </a:br>
            <a:r>
              <a:rPr lang="ro-RO" dirty="0"/>
              <a:t>    </a:t>
            </a:r>
            <a:r>
              <a:rPr lang="ro-RO" dirty="0" err="1"/>
              <a:t>String</a:t>
            </a:r>
            <a:r>
              <a:rPr lang="ro-RO" dirty="0"/>
              <a:t> r3 = </a:t>
            </a:r>
            <a:r>
              <a:rPr lang="ro-RO" dirty="0" err="1"/>
              <a:t>app.addAvailability</a:t>
            </a:r>
            <a:r>
              <a:rPr lang="ro-RO" dirty="0"/>
              <a:t>(</a:t>
            </a:r>
            <a:r>
              <a:rPr lang="ro-RO" dirty="0" err="1"/>
              <a:t>DayOfWeek.</a:t>
            </a:r>
            <a:r>
              <a:rPr lang="ro-RO" i="1" dirty="0" err="1"/>
              <a:t>FRIDAY</a:t>
            </a:r>
            <a:r>
              <a:rPr lang="ro-RO" dirty="0"/>
              <a:t>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(13, 0), </a:t>
            </a:r>
            <a:r>
              <a:rPr lang="ro-RO" dirty="0" err="1"/>
              <a:t>LocalTime.</a:t>
            </a:r>
            <a:r>
              <a:rPr lang="ro-RO" i="1" dirty="0" err="1"/>
              <a:t>of</a:t>
            </a:r>
            <a:r>
              <a:rPr lang="ro-RO" dirty="0"/>
              <a:t>(14, 0));</a:t>
            </a:r>
            <a:br>
              <a:rPr lang="ro-RO" dirty="0"/>
            </a:br>
            <a:r>
              <a:rPr lang="ro-RO" dirty="0"/>
              <a:t>    </a:t>
            </a:r>
            <a:r>
              <a:rPr lang="ro-RO" i="1" dirty="0" err="1"/>
              <a:t>assertEquals</a:t>
            </a:r>
            <a:r>
              <a:rPr lang="ro-RO" dirty="0"/>
              <a:t>("Succes: Intervalul a fost adăugat.", r3);</a:t>
            </a:r>
            <a:br>
              <a:rPr lang="ro-RO" dirty="0"/>
            </a:br>
            <a:r>
              <a:rPr lang="ro-RO" dirty="0"/>
              <a:t>}</a:t>
            </a:r>
          </a:p>
          <a:p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2654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9AECDF1-D443-50D0-CCD9-B7064851F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o-RO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7849159F-9040-1039-D218-1B56603B5A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352" y="211247"/>
            <a:ext cx="10058400" cy="3739661"/>
          </a:xfrm>
          <a:prstGeom prst="rect">
            <a:avLst/>
          </a:prstGeom>
        </p:spPr>
      </p:pic>
      <p:pic>
        <p:nvPicPr>
          <p:cNvPr id="7" name="Imagine 6">
            <a:extLst>
              <a:ext uri="{FF2B5EF4-FFF2-40B4-BE49-F238E27FC236}">
                <a16:creationId xmlns:a16="http://schemas.microsoft.com/office/drawing/2014/main" id="{19CC4D89-BC2B-30AD-B9BE-04BE8E4CE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4320" y="3900303"/>
            <a:ext cx="7924799" cy="267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146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AA820C96-C4B5-E39C-4ACC-FAA586438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Generare automată teste</a:t>
            </a:r>
          </a:p>
        </p:txBody>
      </p:sp>
      <p:pic>
        <p:nvPicPr>
          <p:cNvPr id="6" name="Imagine 5">
            <a:extLst>
              <a:ext uri="{FF2B5EF4-FFF2-40B4-BE49-F238E27FC236}">
                <a16:creationId xmlns:a16="http://schemas.microsoft.com/office/drawing/2014/main" id="{96DB5B29-AD71-CC4E-BCBC-5B010A969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62" y="4008224"/>
            <a:ext cx="10650436" cy="1886213"/>
          </a:xfrm>
          <a:prstGeom prst="rect">
            <a:avLst/>
          </a:prstGeom>
        </p:spPr>
      </p:pic>
      <p:graphicFrame>
        <p:nvGraphicFramePr>
          <p:cNvPr id="9" name="Substituent conținut 8">
            <a:extLst>
              <a:ext uri="{FF2B5EF4-FFF2-40B4-BE49-F238E27FC236}">
                <a16:creationId xmlns:a16="http://schemas.microsoft.com/office/drawing/2014/main" id="{2DC55BCB-454F-9701-E35F-67791ADCC4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4629801"/>
              </p:ext>
            </p:extLst>
          </p:nvPr>
        </p:nvGraphicFramePr>
        <p:xfrm>
          <a:off x="997131" y="1737360"/>
          <a:ext cx="10058400" cy="1763214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352800">
                  <a:extLst>
                    <a:ext uri="{9D8B030D-6E8A-4147-A177-3AD203B41FA5}">
                      <a16:colId xmlns:a16="http://schemas.microsoft.com/office/drawing/2014/main" val="3928809214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2504688094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1791905458"/>
                    </a:ext>
                  </a:extLst>
                </a:gridCol>
              </a:tblGrid>
              <a:tr h="300174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Număr total teste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32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12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3746548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Metodologie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EP, BVA, Category Partitioning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Nestructurată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381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Acoperire null dayOfWeek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 teste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 test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051913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Acoperire null startTime/endTime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 teste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 test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33827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Format invalid DayOfWeek (enum)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 teste (assertThrows)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 teste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2759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Valori de frontieră (BV5, BV6 – 1 min)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 teste dedicate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 teste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6735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Intervale adiacente fără conflict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Da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Da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6355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Combinații sistematice multi-parametru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18 clase globale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1622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Suprapunere endTime null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Da</a:t>
                      </a:r>
                      <a:endParaRPr lang="ro-RO" sz="120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0 teste</a:t>
                      </a:r>
                      <a:endParaRPr lang="ro-RO" sz="1200" dirty="0"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570504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530776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ivă">
  <a:themeElements>
    <a:clrScheme name="Retrospectivă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ivă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ivă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287</TotalTime>
  <Words>934</Words>
  <Application>Microsoft Office PowerPoint</Application>
  <PresentationFormat>Ecran lat</PresentationFormat>
  <Paragraphs>93</Paragraphs>
  <Slides>11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4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</vt:lpstr>
      <vt:lpstr>Retrospectivă</vt:lpstr>
      <vt:lpstr>Testare unitară în Java</vt:lpstr>
      <vt:lpstr>Metoda Testată</vt:lpstr>
      <vt:lpstr>Testare funcțională</vt:lpstr>
      <vt:lpstr>Testare Structurală- Graf de flux de control </vt:lpstr>
      <vt:lpstr>Testare Structurală</vt:lpstr>
      <vt:lpstr>Rezultate Coverage</vt:lpstr>
      <vt:lpstr>Analiză mutanți – Funcție inițială </vt:lpstr>
      <vt:lpstr>Prezentare PowerPoint</vt:lpstr>
      <vt:lpstr>Analiză mutanți – Funcție reparată</vt:lpstr>
      <vt:lpstr>Prezentare PowerPoint</vt:lpstr>
      <vt:lpstr>Generare automată teste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MIHAI IORDACHE</dc:creator>
  <cp:lastModifiedBy>MIHAI IORDACHE</cp:lastModifiedBy>
  <cp:revision>1</cp:revision>
  <dcterms:created xsi:type="dcterms:W3CDTF">2026-04-21T12:34:10Z</dcterms:created>
  <dcterms:modified xsi:type="dcterms:W3CDTF">2026-04-21T17:21:48Z</dcterms:modified>
</cp:coreProperties>
</file>