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800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04CE-35A7-B241-BFD4-0A14050B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9A744-D52E-A1CD-73C0-D1A27CA62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259E4D-9F80-926A-8B50-0F215A8FF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9F36C-277C-822D-30A3-733F21DC6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38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Unitară în Java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addAvailability — Partiționare, Frontieră, Structurală, Mutanți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 Ioan Alexandru  ·  Ionescu Alexandru Ioan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Iordache Mihai  ·  Predescu Andrei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334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 în limbaj natural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o-RO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testată: addAvailability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b="1" dirty="0">
              <a:solidFill>
                <a:srgbClr val="1E2761"/>
              </a:solidFill>
            </a:endParaRPr>
          </a:p>
          <a:p>
            <a:r>
              <a:rPr lang="ro-RO" sz="1100" dirty="0">
                <a:solidFill>
                  <a:srgbClr val="3A4A6B"/>
                </a:solidFill>
              </a:rPr>
              <a:t>Se testează o funcție care verifică dacă o zi și un interval orar sunt disponibile pentru o programare nouă. Mai precis, funcția primește 3 parametri: zi (ziua săptămânii), </a:t>
            </a:r>
            <a:r>
              <a:rPr lang="ro-RO" sz="1100" dirty="0" err="1">
                <a:solidFill>
                  <a:srgbClr val="3A4A6B"/>
                </a:solidFill>
              </a:rPr>
              <a:t>oraInceput</a:t>
            </a:r>
            <a:r>
              <a:rPr lang="ro-RO" sz="1100" dirty="0">
                <a:solidFill>
                  <a:srgbClr val="3A4A6B"/>
                </a:solidFill>
              </a:rPr>
              <a:t> și </a:t>
            </a:r>
            <a:r>
              <a:rPr lang="ro-RO" sz="1100" dirty="0" err="1">
                <a:solidFill>
                  <a:srgbClr val="3A4A6B"/>
                </a:solidFill>
              </a:rPr>
              <a:t>oraSfarsit</a:t>
            </a:r>
            <a:r>
              <a:rPr lang="ro-RO" sz="1100" dirty="0">
                <a:solidFill>
                  <a:srgbClr val="3A4A6B"/>
                </a:solidFill>
              </a:rPr>
              <a:t> (intervalul orar dorit), și verifică dacă aceștia sunt valizi și dacă nu există conflicte cu programările deja existente. Funcția va produce un mesaj care indică fie că programarea a fost adăugată cu succes, fie că există o eroare sau un conflict cu un interval deja rezervat. Utilizatorul poate apela funcția cu orice combinație de zi și interval orar pentru a testa toate cazurile posibile.</a:t>
            </a:r>
            <a:endParaRPr lang="en-US" sz="1100" dirty="0">
              <a:solidFill>
                <a:srgbClr val="3A4A6B"/>
              </a:solidFill>
            </a:endParaRPr>
          </a:p>
          <a:p>
            <a:pPr marL="0" indent="0">
              <a:buNone/>
            </a:pPr>
            <a:r>
              <a:rPr lang="en-US" sz="1200" b="1" dirty="0" err="1">
                <a:solidFill>
                  <a:srgbClr val="1E2761"/>
                </a:solidFill>
              </a:rPr>
              <a:t>Primește</a:t>
            </a:r>
            <a:r>
              <a:rPr lang="en-US" sz="1200" b="1" dirty="0">
                <a:solidFill>
                  <a:srgbClr val="1E2761"/>
                </a:solidFill>
              </a:rPr>
              <a:t> 3 parametri: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A90D9"/>
                </a:solidFill>
              </a:rPr>
              <a:t>dayOfWeek</a:t>
            </a:r>
            <a:r>
              <a:rPr lang="en-US" sz="1100" dirty="0">
                <a:solidFill>
                  <a:srgbClr val="3A4A6B"/>
                </a:solidFill>
              </a:rPr>
              <a:t> — ziua săptămânii
</a:t>
            </a:r>
            <a:r>
              <a:rPr lang="en-US" sz="1100" b="1" dirty="0">
                <a:solidFill>
                  <a:srgbClr val="4A90D9"/>
                </a:solidFill>
              </a:rPr>
              <a:t>startTime</a:t>
            </a:r>
            <a:r>
              <a:rPr lang="en-US" sz="1100" dirty="0">
                <a:solidFill>
                  <a:srgbClr val="3A4A6B"/>
                </a:solidFill>
              </a:rPr>
              <a:t> — ora de început
</a:t>
            </a:r>
            <a:r>
              <a:rPr lang="en-US" sz="1100" b="1" dirty="0">
                <a:solidFill>
                  <a:srgbClr val="4A90D9"/>
                </a:solidFill>
              </a:rPr>
              <a:t>endTime</a:t>
            </a:r>
            <a:r>
              <a:rPr lang="en-US" sz="1100" dirty="0">
                <a:solidFill>
                  <a:srgbClr val="3A4A6B"/>
                </a:solidFill>
              </a:rPr>
              <a:t> — ora de sfârșit
Verifică dacă intervalul poate fi adăugat fără a intra în conflict cu programările existente.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109728" cy="86868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28032" y="11704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Intervalul a fost adăugat cu succes în lista de disponibilități.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01368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801368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847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Eroare: Ziua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2148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este null — ziua săptămânii este obligatorie.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779776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79776"/>
            <a:ext cx="109728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8254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Eroare: Interval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31272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startTime/endTime null sau start ≥ end.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758184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758184"/>
            <a:ext cx="109728" cy="86868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41056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Există deja un interval suprapus în aceeași zi.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Strategia de testare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Testare funcțională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Partiționare de echivalență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valorilor de frontieră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Partiționarea în categorii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Testare structurală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5272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Branch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Path (McCabe)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Analiză mutanți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Mutation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 mutanți supraviețuitori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Reparare suită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26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Generare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1012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GPT-4o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cu suita manuală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Evaluare calitate automată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funcțională — Partiționare de echivalență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0972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90472" y="868680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36192" y="868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Combinație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78224" y="868680"/>
            <a:ext cx="29260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23944" y="868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 așteptat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31736" y="868680"/>
            <a:ext cx="21945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7456" y="868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280160"/>
            <a:ext cx="1097280" cy="62179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28016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90472" y="1280160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45336" y="1280160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(D1, T1, C1)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78224" y="1280160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128016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Succes: Intervalul a fost adăugat.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31736" y="1280160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280160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938528"/>
            <a:ext cx="109728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938528"/>
            <a:ext cx="10972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1938528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490472" y="1938528"/>
            <a:ext cx="256032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5336" y="1938528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(D2, T1, C1)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78224" y="1938528"/>
            <a:ext cx="292608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193852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Eroare: Ziua săptămânii este obligatorie.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31736" y="1938528"/>
            <a:ext cx="219456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938528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596896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596896"/>
            <a:ext cx="10972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596896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490472" y="2596896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45336" y="2596896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(D1, T2, C1)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078224" y="259689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33088" y="259689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Eroare: Ora de început...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31736" y="2596896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2596896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255264"/>
            <a:ext cx="109728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255264"/>
            <a:ext cx="109728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" y="3255264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490472" y="3255264"/>
            <a:ext cx="256032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5336" y="3255264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(D1, T3, C1)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078224" y="3255264"/>
            <a:ext cx="292608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325526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Eroare: Ora de început...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31736" y="3255264"/>
            <a:ext cx="2194560" cy="621792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255264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913632"/>
            <a:ext cx="10972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3913632"/>
            <a:ext cx="1097280" cy="621792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" y="3913632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490472" y="391363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545336" y="39136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(D1, T1, C2)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078224" y="391363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3088" y="3913632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Conflict: Există deja un interval...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031736" y="3913632"/>
            <a:ext cx="21945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3913632"/>
            <a:ext cx="20848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Principiu: un test valid complet + câte un test izolat per clasă invalidă (evitarea Fault Masking)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funcțională — Analiza valorilor de frontieră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de referință: [10:00 – 11:00]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43000" y="1143000"/>
            <a:ext cx="1737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143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143000"/>
            <a:ext cx="29260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Frontiera testată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143000"/>
            <a:ext cx="1645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143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36192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36192"/>
            <a:ext cx="7315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153619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1536192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15361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09:00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1536192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80944" y="153619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1536192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2744" y="15361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084832"/>
            <a:ext cx="7315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084832"/>
            <a:ext cx="731520" cy="50292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08483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2084832"/>
            <a:ext cx="173736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7864" y="208483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09:01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2084832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80944" y="20848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E − 1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084832"/>
            <a:ext cx="16459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2744" y="208483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633472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633472"/>
            <a:ext cx="731520" cy="50292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" y="263347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43000" y="2633472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97864" y="26334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26080" y="2633472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80944" y="263347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S_ex (adiacent)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97880" y="2633472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52744" y="26334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182112"/>
            <a:ext cx="7315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182112"/>
            <a:ext cx="731520" cy="50292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" y="318211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143000" y="3182112"/>
            <a:ext cx="173736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97864" y="318211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926080" y="3182112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80944" y="318211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E_ex (adiacent)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97880" y="3182112"/>
            <a:ext cx="16459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52744" y="318211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3730752"/>
            <a:ext cx="731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730752"/>
            <a:ext cx="731520" cy="50292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373075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43000" y="3730752"/>
            <a:ext cx="1737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97864" y="373075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– 10:01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926080" y="3730752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80944" y="37307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S_ex + 1 min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97880" y="3730752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52744" y="373075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65760" y="4279392"/>
            <a:ext cx="7315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279392"/>
            <a:ext cx="731520" cy="50292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279392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143000" y="4279392"/>
            <a:ext cx="173736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97864" y="427939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10:59 – 12:00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926080" y="4279392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80944" y="427939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E_ex − 1 min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897880" y="4279392"/>
            <a:ext cx="164592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52744" y="427939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8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7326E-68A1-9F9D-B3A4-BB9256D7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8C5554-1C17-B891-86B7-3BA8B44BB64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5DA0D2-006F-A95E-4A5C-708B526A0B9B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CF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7F3428C-1912-CB2D-6975-FF5587448AA9}"/>
              </a:ext>
            </a:extLst>
          </p:cNvPr>
          <p:cNvSpPr/>
          <p:nvPr/>
        </p:nvSpPr>
        <p:spPr>
          <a:xfrm>
            <a:off x="50292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Noduri CFG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4153CC8-1753-3138-B734-9ACEA44D9951}"/>
              </a:ext>
            </a:extLst>
          </p:cNvPr>
          <p:cNvSpPr/>
          <p:nvPr/>
        </p:nvSpPr>
        <p:spPr>
          <a:xfrm>
            <a:off x="50292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C1AE65A-D44B-B21E-2AE4-2E5CD3678BEB}"/>
              </a:ext>
            </a:extLst>
          </p:cNvPr>
          <p:cNvSpPr/>
          <p:nvPr/>
        </p:nvSpPr>
        <p:spPr>
          <a:xfrm>
            <a:off x="5120640" y="822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Complexitate ciclomatică McCabe</a:t>
            </a:r>
            <a:endParaRPr lang="en-US" sz="1200" dirty="0"/>
          </a:p>
        </p:txBody>
      </p:sp>
      <p:pic>
        <p:nvPicPr>
          <p:cNvPr id="54" name="Imagine 53" descr="Untitled Diagram drawio">
            <a:extLst>
              <a:ext uri="{FF2B5EF4-FFF2-40B4-BE49-F238E27FC236}">
                <a16:creationId xmlns:a16="http://schemas.microsoft.com/office/drawing/2014/main" id="{2EAE87F4-B9B3-8D41-4D60-63A8C42C6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03" y="996696"/>
            <a:ext cx="4114800" cy="3682800"/>
          </a:xfrm>
          <a:prstGeom prst="rect">
            <a:avLst/>
          </a:prstGeom>
        </p:spPr>
      </p:pic>
      <p:sp>
        <p:nvSpPr>
          <p:cNvPr id="93" name="Shape 2">
            <a:extLst>
              <a:ext uri="{FF2B5EF4-FFF2-40B4-BE49-F238E27FC236}">
                <a16:creationId xmlns:a16="http://schemas.microsoft.com/office/drawing/2014/main" id="{45FA8631-E4F8-98B1-2587-402BE794F78C}"/>
              </a:ext>
            </a:extLst>
          </p:cNvPr>
          <p:cNvSpPr/>
          <p:nvPr/>
        </p:nvSpPr>
        <p:spPr>
          <a:xfrm>
            <a:off x="4617720" y="868680"/>
            <a:ext cx="43891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4" name="Shape 3">
            <a:extLst>
              <a:ext uri="{FF2B5EF4-FFF2-40B4-BE49-F238E27FC236}">
                <a16:creationId xmlns:a16="http://schemas.microsoft.com/office/drawing/2014/main" id="{5C8585A5-90BA-A777-ECFA-9B8233BA8EEC}"/>
              </a:ext>
            </a:extLst>
          </p:cNvPr>
          <p:cNvSpPr/>
          <p:nvPr/>
        </p:nvSpPr>
        <p:spPr>
          <a:xfrm>
            <a:off x="4617720" y="868680"/>
            <a:ext cx="43891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o-RO" dirty="0"/>
          </a:p>
        </p:txBody>
      </p:sp>
      <p:sp>
        <p:nvSpPr>
          <p:cNvPr id="95" name="Text 4">
            <a:extLst>
              <a:ext uri="{FF2B5EF4-FFF2-40B4-BE49-F238E27FC236}">
                <a16:creationId xmlns:a16="http://schemas.microsoft.com/office/drawing/2014/main" id="{545A273A-E64F-9242-7F83-227F8E9F6046}"/>
              </a:ext>
            </a:extLst>
          </p:cNvPr>
          <p:cNvSpPr/>
          <p:nvPr/>
        </p:nvSpPr>
        <p:spPr>
          <a:xfrm>
            <a:off x="475488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Noduri CFG</a:t>
            </a:r>
            <a:endParaRPr lang="en-US" sz="1200" dirty="0"/>
          </a:p>
        </p:txBody>
      </p:sp>
      <p:sp>
        <p:nvSpPr>
          <p:cNvPr id="96" name="Shape 5">
            <a:extLst>
              <a:ext uri="{FF2B5EF4-FFF2-40B4-BE49-F238E27FC236}">
                <a16:creationId xmlns:a16="http://schemas.microsoft.com/office/drawing/2014/main" id="{8D4017E3-D07A-3E7E-6324-4775CFB387C3}"/>
              </a:ext>
            </a:extLst>
          </p:cNvPr>
          <p:cNvSpPr/>
          <p:nvPr/>
        </p:nvSpPr>
        <p:spPr>
          <a:xfrm>
            <a:off x="4754880" y="1261872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7" name="Text 6">
            <a:extLst>
              <a:ext uri="{FF2B5EF4-FFF2-40B4-BE49-F238E27FC236}">
                <a16:creationId xmlns:a16="http://schemas.microsoft.com/office/drawing/2014/main" id="{333E668E-82C3-5061-29E1-3723FBC6D658}"/>
              </a:ext>
            </a:extLst>
          </p:cNvPr>
          <p:cNvSpPr/>
          <p:nvPr/>
        </p:nvSpPr>
        <p:spPr>
          <a:xfrm>
            <a:off x="4754880" y="12618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98" name="Text 7">
            <a:extLst>
              <a:ext uri="{FF2B5EF4-FFF2-40B4-BE49-F238E27FC236}">
                <a16:creationId xmlns:a16="http://schemas.microsoft.com/office/drawing/2014/main" id="{F1D459E6-2A10-42F7-1B34-F8A012746413}"/>
              </a:ext>
            </a:extLst>
          </p:cNvPr>
          <p:cNvSpPr/>
          <p:nvPr/>
        </p:nvSpPr>
        <p:spPr>
          <a:xfrm>
            <a:off x="521208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(dayOfWeek == null)</a:t>
            </a:r>
            <a:endParaRPr lang="en-US" sz="1000" dirty="0"/>
          </a:p>
        </p:txBody>
      </p:sp>
      <p:sp>
        <p:nvSpPr>
          <p:cNvPr id="99" name="Shape 8">
            <a:extLst>
              <a:ext uri="{FF2B5EF4-FFF2-40B4-BE49-F238E27FC236}">
                <a16:creationId xmlns:a16="http://schemas.microsoft.com/office/drawing/2014/main" id="{7A3DC71E-1C75-8B74-1255-0B1736E7CC0B}"/>
              </a:ext>
            </a:extLst>
          </p:cNvPr>
          <p:cNvSpPr/>
          <p:nvPr/>
        </p:nvSpPr>
        <p:spPr>
          <a:xfrm>
            <a:off x="4754880" y="1609344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4A2DE978-4D21-ED33-EE36-BF2E61F19A6C}"/>
              </a:ext>
            </a:extLst>
          </p:cNvPr>
          <p:cNvSpPr/>
          <p:nvPr/>
        </p:nvSpPr>
        <p:spPr>
          <a:xfrm>
            <a:off x="4754880" y="16093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00" dirty="0"/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073F2277-3E6A-7E39-9026-6B3447B76453}"/>
              </a:ext>
            </a:extLst>
          </p:cNvPr>
          <p:cNvSpPr/>
          <p:nvPr/>
        </p:nvSpPr>
        <p:spPr>
          <a:xfrm>
            <a:off x="5212080" y="1609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eroare — Ziua obligatorie</a:t>
            </a:r>
            <a:endParaRPr lang="en-US" sz="1000" dirty="0"/>
          </a:p>
        </p:txBody>
      </p:sp>
      <p:sp>
        <p:nvSpPr>
          <p:cNvPr id="102" name="Shape 11">
            <a:extLst>
              <a:ext uri="{FF2B5EF4-FFF2-40B4-BE49-F238E27FC236}">
                <a16:creationId xmlns:a16="http://schemas.microsoft.com/office/drawing/2014/main" id="{89C34C51-5205-9A15-D6CD-170E78C78BA3}"/>
              </a:ext>
            </a:extLst>
          </p:cNvPr>
          <p:cNvSpPr/>
          <p:nvPr/>
        </p:nvSpPr>
        <p:spPr>
          <a:xfrm>
            <a:off x="4754880" y="1956816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0F36E33C-6B8E-185C-57C3-F63A05A7E0C9}"/>
              </a:ext>
            </a:extLst>
          </p:cNvPr>
          <p:cNvSpPr/>
          <p:nvPr/>
        </p:nvSpPr>
        <p:spPr>
          <a:xfrm>
            <a:off x="4754880" y="19568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00" dirty="0"/>
          </a:p>
        </p:txBody>
      </p:sp>
      <p:sp>
        <p:nvSpPr>
          <p:cNvPr id="104" name="Text 13">
            <a:extLst>
              <a:ext uri="{FF2B5EF4-FFF2-40B4-BE49-F238E27FC236}">
                <a16:creationId xmlns:a16="http://schemas.microsoft.com/office/drawing/2014/main" id="{912D2462-E8C9-BD01-112F-A544D064E017}"/>
              </a:ext>
            </a:extLst>
          </p:cNvPr>
          <p:cNvSpPr/>
          <p:nvPr/>
        </p:nvSpPr>
        <p:spPr>
          <a:xfrm>
            <a:off x="5212080" y="1956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(startTime == null || endTime == null || ...)</a:t>
            </a:r>
            <a:endParaRPr lang="en-US" sz="1000" dirty="0"/>
          </a:p>
        </p:txBody>
      </p:sp>
      <p:sp>
        <p:nvSpPr>
          <p:cNvPr id="105" name="Shape 14">
            <a:extLst>
              <a:ext uri="{FF2B5EF4-FFF2-40B4-BE49-F238E27FC236}">
                <a16:creationId xmlns:a16="http://schemas.microsoft.com/office/drawing/2014/main" id="{2A80F3BC-BC0C-3F2F-7880-88D996DF3494}"/>
              </a:ext>
            </a:extLst>
          </p:cNvPr>
          <p:cNvSpPr/>
          <p:nvPr/>
        </p:nvSpPr>
        <p:spPr>
          <a:xfrm>
            <a:off x="4754880" y="2304288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6" name="Text 15">
            <a:extLst>
              <a:ext uri="{FF2B5EF4-FFF2-40B4-BE49-F238E27FC236}">
                <a16:creationId xmlns:a16="http://schemas.microsoft.com/office/drawing/2014/main" id="{C87417FB-1F0E-BC5B-644F-AE296DCDBD63}"/>
              </a:ext>
            </a:extLst>
          </p:cNvPr>
          <p:cNvSpPr/>
          <p:nvPr/>
        </p:nvSpPr>
        <p:spPr>
          <a:xfrm>
            <a:off x="4754880" y="23042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C0F93015-F874-024E-2928-9C6301473AD7}"/>
              </a:ext>
            </a:extLst>
          </p:cNvPr>
          <p:cNvSpPr/>
          <p:nvPr/>
        </p:nvSpPr>
        <p:spPr>
          <a:xfrm>
            <a:off x="5212080" y="2304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eroare — Interval invalid</a:t>
            </a:r>
            <a:endParaRPr lang="en-US" sz="1000" dirty="0"/>
          </a:p>
        </p:txBody>
      </p:sp>
      <p:sp>
        <p:nvSpPr>
          <p:cNvPr id="108" name="Shape 17">
            <a:extLst>
              <a:ext uri="{FF2B5EF4-FFF2-40B4-BE49-F238E27FC236}">
                <a16:creationId xmlns:a16="http://schemas.microsoft.com/office/drawing/2014/main" id="{B47314D4-494A-FA08-28EA-AAF78ACE24CF}"/>
              </a:ext>
            </a:extLst>
          </p:cNvPr>
          <p:cNvSpPr/>
          <p:nvPr/>
        </p:nvSpPr>
        <p:spPr>
          <a:xfrm>
            <a:off x="4754880" y="2651760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9" name="Text 18">
            <a:extLst>
              <a:ext uri="{FF2B5EF4-FFF2-40B4-BE49-F238E27FC236}">
                <a16:creationId xmlns:a16="http://schemas.microsoft.com/office/drawing/2014/main" id="{9D38FF0E-C7CB-26B5-4CEE-C88AAF2F5C5E}"/>
              </a:ext>
            </a:extLst>
          </p:cNvPr>
          <p:cNvSpPr/>
          <p:nvPr/>
        </p:nvSpPr>
        <p:spPr>
          <a:xfrm>
            <a:off x="475488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000" dirty="0"/>
          </a:p>
        </p:txBody>
      </p:sp>
      <p:sp>
        <p:nvSpPr>
          <p:cNvPr id="110" name="Text 19">
            <a:extLst>
              <a:ext uri="{FF2B5EF4-FFF2-40B4-BE49-F238E27FC236}">
                <a16:creationId xmlns:a16="http://schemas.microsoft.com/office/drawing/2014/main" id="{BF9B2A61-CD28-9229-B3C6-EE180415958B}"/>
              </a:ext>
            </a:extLst>
          </p:cNvPr>
          <p:cNvSpPr/>
          <p:nvPr/>
        </p:nvSpPr>
        <p:spPr>
          <a:xfrm>
            <a:off x="5212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 in trainerAvailabilities</a:t>
            </a:r>
            <a:endParaRPr lang="en-US" sz="1000" dirty="0"/>
          </a:p>
        </p:txBody>
      </p:sp>
      <p:sp>
        <p:nvSpPr>
          <p:cNvPr id="111" name="Shape 20">
            <a:extLst>
              <a:ext uri="{FF2B5EF4-FFF2-40B4-BE49-F238E27FC236}">
                <a16:creationId xmlns:a16="http://schemas.microsoft.com/office/drawing/2014/main" id="{4165D2C1-65A0-A663-35E7-5FD5956CDA45}"/>
              </a:ext>
            </a:extLst>
          </p:cNvPr>
          <p:cNvSpPr/>
          <p:nvPr/>
        </p:nvSpPr>
        <p:spPr>
          <a:xfrm>
            <a:off x="4754880" y="2999232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2" name="Text 21">
            <a:extLst>
              <a:ext uri="{FF2B5EF4-FFF2-40B4-BE49-F238E27FC236}">
                <a16:creationId xmlns:a16="http://schemas.microsoft.com/office/drawing/2014/main" id="{0711BC4A-3A9F-9928-EC54-61467B196401}"/>
              </a:ext>
            </a:extLst>
          </p:cNvPr>
          <p:cNvSpPr/>
          <p:nvPr/>
        </p:nvSpPr>
        <p:spPr>
          <a:xfrm>
            <a:off x="4754880" y="2999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00" dirty="0"/>
          </a:p>
        </p:txBody>
      </p:sp>
      <p:sp>
        <p:nvSpPr>
          <p:cNvPr id="113" name="Text 22">
            <a:extLst>
              <a:ext uri="{FF2B5EF4-FFF2-40B4-BE49-F238E27FC236}">
                <a16:creationId xmlns:a16="http://schemas.microsoft.com/office/drawing/2014/main" id="{FDFF8021-AFF6-E1E7-C265-C874186F3675}"/>
              </a:ext>
            </a:extLst>
          </p:cNvPr>
          <p:cNvSpPr/>
          <p:nvPr/>
        </p:nvSpPr>
        <p:spPr>
          <a:xfrm>
            <a:off x="5212080" y="2999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(t.dayOfWeek == dayOfWeek)</a:t>
            </a:r>
            <a:endParaRPr lang="en-US" sz="1000" dirty="0"/>
          </a:p>
        </p:txBody>
      </p:sp>
      <p:sp>
        <p:nvSpPr>
          <p:cNvPr id="114" name="Shape 23">
            <a:extLst>
              <a:ext uri="{FF2B5EF4-FFF2-40B4-BE49-F238E27FC236}">
                <a16:creationId xmlns:a16="http://schemas.microsoft.com/office/drawing/2014/main" id="{0BAB50C7-6A34-15DC-DD44-53287DC5B57E}"/>
              </a:ext>
            </a:extLst>
          </p:cNvPr>
          <p:cNvSpPr/>
          <p:nvPr/>
        </p:nvSpPr>
        <p:spPr>
          <a:xfrm>
            <a:off x="4754880" y="3346704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5" name="Text 24">
            <a:extLst>
              <a:ext uri="{FF2B5EF4-FFF2-40B4-BE49-F238E27FC236}">
                <a16:creationId xmlns:a16="http://schemas.microsoft.com/office/drawing/2014/main" id="{00619C8E-C336-6E1E-98E5-F5949C217158}"/>
              </a:ext>
            </a:extLst>
          </p:cNvPr>
          <p:cNvSpPr/>
          <p:nvPr/>
        </p:nvSpPr>
        <p:spPr>
          <a:xfrm>
            <a:off x="4754880" y="3346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000" dirty="0"/>
          </a:p>
        </p:txBody>
      </p:sp>
      <p:sp>
        <p:nvSpPr>
          <p:cNvPr id="116" name="Text 25">
            <a:extLst>
              <a:ext uri="{FF2B5EF4-FFF2-40B4-BE49-F238E27FC236}">
                <a16:creationId xmlns:a16="http://schemas.microsoft.com/office/drawing/2014/main" id="{EAAF6F97-51FE-336C-EB68-7907B6316923}"/>
              </a:ext>
            </a:extLst>
          </p:cNvPr>
          <p:cNvSpPr/>
          <p:nvPr/>
        </p:nvSpPr>
        <p:spPr>
          <a:xfrm>
            <a:off x="521208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(suprapunere — 3 sub-condiții OR)</a:t>
            </a:r>
            <a:endParaRPr lang="en-US" sz="1000" dirty="0"/>
          </a:p>
        </p:txBody>
      </p:sp>
      <p:sp>
        <p:nvSpPr>
          <p:cNvPr id="117" name="Shape 26">
            <a:extLst>
              <a:ext uri="{FF2B5EF4-FFF2-40B4-BE49-F238E27FC236}">
                <a16:creationId xmlns:a16="http://schemas.microsoft.com/office/drawing/2014/main" id="{79EF1B59-1A40-4675-E402-297C9A309EC3}"/>
              </a:ext>
            </a:extLst>
          </p:cNvPr>
          <p:cNvSpPr/>
          <p:nvPr/>
        </p:nvSpPr>
        <p:spPr>
          <a:xfrm>
            <a:off x="4754880" y="3694176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8" name="Text 27">
            <a:extLst>
              <a:ext uri="{FF2B5EF4-FFF2-40B4-BE49-F238E27FC236}">
                <a16:creationId xmlns:a16="http://schemas.microsoft.com/office/drawing/2014/main" id="{7C687E9F-563F-B04D-4159-AE7B45312B29}"/>
              </a:ext>
            </a:extLst>
          </p:cNvPr>
          <p:cNvSpPr/>
          <p:nvPr/>
        </p:nvSpPr>
        <p:spPr>
          <a:xfrm>
            <a:off x="4754880" y="3694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000" dirty="0"/>
          </a:p>
        </p:txBody>
      </p:sp>
      <p:sp>
        <p:nvSpPr>
          <p:cNvPr id="119" name="Text 28">
            <a:extLst>
              <a:ext uri="{FF2B5EF4-FFF2-40B4-BE49-F238E27FC236}">
                <a16:creationId xmlns:a16="http://schemas.microsoft.com/office/drawing/2014/main" id="{ED35848E-7038-93C7-8D78-CAA813E8A455}"/>
              </a:ext>
            </a:extLst>
          </p:cNvPr>
          <p:cNvSpPr/>
          <p:nvPr/>
        </p:nvSpPr>
        <p:spPr>
          <a:xfrm>
            <a:off x="5212080" y="3694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(conflictGasit)</a:t>
            </a:r>
            <a:endParaRPr lang="en-US" sz="1000" dirty="0"/>
          </a:p>
        </p:txBody>
      </p:sp>
      <p:sp>
        <p:nvSpPr>
          <p:cNvPr id="120" name="Shape 29">
            <a:extLst>
              <a:ext uri="{FF2B5EF4-FFF2-40B4-BE49-F238E27FC236}">
                <a16:creationId xmlns:a16="http://schemas.microsoft.com/office/drawing/2014/main" id="{AC21879D-8617-E17D-CF1D-485E308D7F36}"/>
              </a:ext>
            </a:extLst>
          </p:cNvPr>
          <p:cNvSpPr/>
          <p:nvPr/>
        </p:nvSpPr>
        <p:spPr>
          <a:xfrm>
            <a:off x="4754880" y="4041648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1" name="Text 30">
            <a:extLst>
              <a:ext uri="{FF2B5EF4-FFF2-40B4-BE49-F238E27FC236}">
                <a16:creationId xmlns:a16="http://schemas.microsoft.com/office/drawing/2014/main" id="{993F40D6-FB9E-C510-8834-E0CBC86647E4}"/>
              </a:ext>
            </a:extLst>
          </p:cNvPr>
          <p:cNvSpPr/>
          <p:nvPr/>
        </p:nvSpPr>
        <p:spPr>
          <a:xfrm>
            <a:off x="4754880" y="40416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N9</a:t>
            </a:r>
            <a:endParaRPr lang="en-US" sz="1000" dirty="0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43833BB6-B723-7E04-39BC-D5C1EA7E4F88}"/>
              </a:ext>
            </a:extLst>
          </p:cNvPr>
          <p:cNvSpPr/>
          <p:nvPr/>
        </p:nvSpPr>
        <p:spPr>
          <a:xfrm>
            <a:off x="521208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Conflict</a:t>
            </a:r>
            <a:endParaRPr lang="en-US" sz="1000" dirty="0"/>
          </a:p>
        </p:txBody>
      </p:sp>
      <p:sp>
        <p:nvSpPr>
          <p:cNvPr id="123" name="Shape 32">
            <a:extLst>
              <a:ext uri="{FF2B5EF4-FFF2-40B4-BE49-F238E27FC236}">
                <a16:creationId xmlns:a16="http://schemas.microsoft.com/office/drawing/2014/main" id="{85324485-80DF-FD7F-00A1-31B1EBC05256}"/>
              </a:ext>
            </a:extLst>
          </p:cNvPr>
          <p:cNvSpPr/>
          <p:nvPr/>
        </p:nvSpPr>
        <p:spPr>
          <a:xfrm>
            <a:off x="4754880" y="4389120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4" name="Text 33">
            <a:extLst>
              <a:ext uri="{FF2B5EF4-FFF2-40B4-BE49-F238E27FC236}">
                <a16:creationId xmlns:a16="http://schemas.microsoft.com/office/drawing/2014/main" id="{AE51C90C-BAA6-28D6-DE7B-8B503AD65E21}"/>
              </a:ext>
            </a:extLst>
          </p:cNvPr>
          <p:cNvSpPr/>
          <p:nvPr/>
        </p:nvSpPr>
        <p:spPr>
          <a:xfrm>
            <a:off x="4754880" y="4389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000" dirty="0"/>
          </a:p>
        </p:txBody>
      </p:sp>
      <p:sp>
        <p:nvSpPr>
          <p:cNvPr id="125" name="Text 34">
            <a:extLst>
              <a:ext uri="{FF2B5EF4-FFF2-40B4-BE49-F238E27FC236}">
                <a16:creationId xmlns:a16="http://schemas.microsoft.com/office/drawing/2014/main" id="{669A9584-D71C-B835-8F83-C37939D5B148}"/>
              </a:ext>
            </a:extLst>
          </p:cNvPr>
          <p:cNvSpPr/>
          <p:nvPr/>
        </p:nvSpPr>
        <p:spPr>
          <a:xfrm>
            <a:off x="52120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Succes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749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structurală — Graf CFG &amp; Complexitate ciclomatică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3891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3891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ro-RO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Noduri CFG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16152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161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(dayOfWeek == null)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63624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636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563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eroare — Ziua obligatorie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911096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9110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11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(startTime == null || endTime == null || ...)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258568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585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eroare — Interval invalid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06040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06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 in trainerAvailabilities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953512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535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953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(t.dayOfWeek == dayOfWeek)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300984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00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3009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(suprapunere — 3 sub-condiții OR)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648456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4845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648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(conflictGasit)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3995928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959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3995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Conflict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343400"/>
            <a:ext cx="41148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— Succes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83480" y="822960"/>
            <a:ext cx="37947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83480" y="822960"/>
            <a:ext cx="379476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8229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Complexitate ciclomatică McCabe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12161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(noduri):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12161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16733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(arce):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16733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(11 interne + 4 adăugate)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21305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V(G) = e − n + 2: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78040" y="21305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15 − 10 + 2 = 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120640" y="24231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7 circuite independente, 7 căi de test necesare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83480" y="2880360"/>
            <a:ext cx="37947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983480" y="2880360"/>
            <a:ext cx="37947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880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Tipuri de acoperire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1206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 — 2 teste (T1, T2)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36210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Branch Coverage — 5+ teste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0640" y="39684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 — 10+ teste (CC1–CC12)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40" y="43159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Path — 7 căi (CP1–CP7)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structurală — Statement &amp; Decision Coverage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Coverage — 2 teste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T1: MONDAY 10:00–12:00 cu [MONDAY 09:00–11:00] → Conflict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T2: MONDAY 10:00–11:00 cu [] (goală) → Succes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Acoperă nodurile: N1,N3,N5,N6,N7,N8,N9,N10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0233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880360"/>
            <a:ext cx="40233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0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Coverage — 5 teste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735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DC1: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273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D1→adevărat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DC2: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D1→fals, D2→adevărat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DC3: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858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D2→fals, D3→fals, D6→fals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51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DC4: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1513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D3,D4,D5,D6→adevărat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439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DC5: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443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D4→fals, D6→fals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 — 10 condiții (C1–C10)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216152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216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12161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== null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52360" y="12161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CC1/CC2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1563624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5636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15636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 == null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52360" y="156362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CC3/CC2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911096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9110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19110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endTime == null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19110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CC4/CC2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258568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2585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22585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!startTime.isBefore(endTime)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52360" y="2258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CC5/CC2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606040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6060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2606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există elemente în for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52360" y="26060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CC6/CC2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2953512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9535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29535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zilele sunt egale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52360" y="29535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CC6/CC9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3300984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30098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3300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 în interval existent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52360" y="330098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CC6,CC11/CC10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63440" y="3648456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64845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0" y="36484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endTime în interval existent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52360" y="364845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CC7/CC10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3995928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9959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20640" y="39959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 == startExistent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52360" y="399592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CC8/CC10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4343400"/>
            <a:ext cx="41148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63440" y="43434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0640" y="43434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conflictGasit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52360" y="43434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CC6/CC10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structurală — Basis Path (Căi independente)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822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0" y="822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null → eroare imediat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35608"/>
            <a:ext cx="8412480" cy="5486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35608"/>
            <a:ext cx="45720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356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14356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N1→N3→N4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23360" y="14356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valid, interval invalid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48256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48256"/>
            <a:ext cx="457200" cy="5486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482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77824" y="20482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N1→N3→N5→N8→N10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0482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goală → succes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8412480" cy="5486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60904"/>
            <a:ext cx="457200" cy="5486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609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7824" y="266090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N1→N3→N5→N6→N5→N8→N10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23360" y="266090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 cu zi diferită → succes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73552"/>
            <a:ext cx="457200" cy="5486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" y="32735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N1→N3→N5→N6→N7→N5→N8→N10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0" y="327355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 egală, fără suprapunere → succes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8412480" cy="5486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86200"/>
            <a:ext cx="457200" cy="548640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N1→N3→N5→N6→N7→N8→N9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3886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49884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498848"/>
            <a:ext cx="457200" cy="54864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988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7824" y="44988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N1→...→N6→N5→N6→N7→N5→N8→N10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23360" y="449884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iterații: zi diferită + zi egală fără suprapunere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finale — Coverage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0" cy="10972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8229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822960"/>
            <a:ext cx="2011680" cy="10972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2011680" cy="109728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A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82296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822960"/>
            <a:ext cx="2011680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9494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Căi independente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 completă: 30+ teste distribuite pe 5 clase de test specializate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automată AI — Comparație cu suita manuală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solidFill>
            <a:srgbClr val="D4800A"/>
          </a:solidFill>
          <a:ln w="12700">
            <a:solidFill>
              <a:srgbClr val="D48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Suită generată de ChatGPT GPT-4o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teste generate automat pe BVA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Acoperă doar cazuri "evidente": exact match, adiacent, zero durată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testează suprapuneri de 1 minut (BV5, BV6)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score: ~60% — mutanți supraviețuitori pe C7, C8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incomplet — linia null day neacoperită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Suită manuală (echipa noastră)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207008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teste pe 5 clase specializate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Acoperă toate frontierele de 1 minut (BV5, BV6)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Coverage complet: C1–C10 toate true și false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score: 100% — toți mutanții killați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100% inclusiv short-circuit evaluation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Concluzie: testarea manuală ghidată de metodologii depășește calitativ generarea automată AI.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09728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081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Testarea funcțională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Partiționarea + BVA + categorii identifică eficient clasele de erori fără acces la cod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8046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67712"/>
            <a:ext cx="109728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042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Testarea structurală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 + McCabe V(G)=7 ghidează acoperirea completă a tuturor ramurilor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8046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63824"/>
            <a:ext cx="109728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0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detectează testele slabe — de la 60% la 100% prin adăugarea testelor izolate per condiție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804672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59936"/>
            <a:ext cx="109728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vs. manual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4439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ratează frontierele critice de 1 minut — suita manuală metodologică e superioară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Mulțumim pentru atenție!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1330</Words>
  <Application>Microsoft Office PowerPoint</Application>
  <PresentationFormat>Expunere pe ecran (16:9)</PresentationFormat>
  <Paragraphs>283</Paragraphs>
  <Slides>12</Slides>
  <Notes>12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Testare Unitară în Java</dc:title>
  <dc:subject>PptxGenJS Presentation</dc:subject>
  <dc:creator>PptxGenJS</dc:creator>
  <cp:lastModifiedBy>MIHAI   IORDACHE</cp:lastModifiedBy>
  <cp:revision>2</cp:revision>
  <dcterms:created xsi:type="dcterms:W3CDTF">2026-05-16T14:05:46Z</dcterms:created>
  <dcterms:modified xsi:type="dcterms:W3CDTF">2026-05-16T14:33:56Z</dcterms:modified>
</cp:coreProperties>
</file>